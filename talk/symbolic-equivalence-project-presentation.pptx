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67" r:id="rId4"/>
    <p:sldId id="258" r:id="rId5"/>
    <p:sldId id="268" r:id="rId6"/>
    <p:sldId id="273" r:id="rId7"/>
    <p:sldId id="259" r:id="rId8"/>
    <p:sldId id="274" r:id="rId9"/>
    <p:sldId id="262" r:id="rId10"/>
    <p:sldId id="272" r:id="rId11"/>
    <p:sldId id="270" r:id="rId12"/>
    <p:sldId id="271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00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42"/>
    <p:restoredTop sz="94712"/>
  </p:normalViewPr>
  <p:slideViewPr>
    <p:cSldViewPr snapToGrid="0">
      <p:cViewPr>
        <p:scale>
          <a:sx n="96" d="100"/>
          <a:sy n="96" d="100"/>
        </p:scale>
        <p:origin x="2376" y="9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FDEF31-028F-6C4A-B91E-E815DD7C571C}" type="datetimeFigureOut">
              <a:rPr lang="en-US" smtClean="0"/>
              <a:t>12/4/25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B969D7-15A9-C645-9495-29D21CEFFA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7466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minute presentation + 1 minute for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B969D7-15A9-C645-9495-29D21CEFFAA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7806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B969D7-15A9-C645-9495-29D21CEFFAA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2672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34EA25-425E-06F9-1C1E-9007DF6E2C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AE9007-3529-A87C-EE90-B53ECF2CB8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025586-9ED1-9828-B98C-C7D845AA62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AC94-D332-2846-B7AF-8633478E2901}" type="datetimeFigureOut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F2C4C4-4AD0-F5ED-5F43-0DC4AF03D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01BBEE-90A2-4550-3059-42AC793583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BF2A6-2B54-B446-9700-277034C37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367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C57A9-0A16-DA94-1E95-841F14C13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656F22-D66C-F84F-974C-C4BA60AD75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3EBAB2-BC1A-87BF-6B81-ECB326F358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AC94-D332-2846-B7AF-8633478E2901}" type="datetimeFigureOut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6A86AA-CE5F-4341-D941-FF53D9FBA6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E36951-ED31-2FF1-7584-893F0BF5A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BF2A6-2B54-B446-9700-277034C37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1178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F1A73-4286-AD89-8CD3-DA5CB44F3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E29DB4-0D74-8BBA-B5EE-7D2FC7F44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E2A2B-699D-82F4-75CE-4012DBDFE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AC94-D332-2846-B7AF-8633478E2901}" type="datetimeFigureOut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22B26E-7FE5-2142-1FF1-3A1D830C7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AAFBFD-B680-00FE-B9F0-1B67FFC8B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BF2A6-2B54-B446-9700-277034C37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737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EA4B3F-FBFB-FE12-5118-6F9EB99AF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531853-37B3-C88B-4650-E4CEED7775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B635CE-AEA3-5E77-D414-083F6CA477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79FE20-B628-67C9-E71E-74C1B9636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AC94-D332-2846-B7AF-8633478E2901}" type="datetimeFigureOut">
              <a:rPr lang="en-US" smtClean="0"/>
              <a:t>12/4/25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F4E164-8722-3650-1E78-BD1B1C95C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F23788-1227-C9C2-E99A-F6B6561BA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BF2A6-2B54-B446-9700-277034C37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51186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11304-6C6B-D8DF-EB95-A3A4BEEB6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D2FFC8-13C4-BC57-6CCC-57CED44019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D2C756-F720-6052-B9DE-AB763B715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6A4ABA-5C5C-30C4-2193-501626CDB7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7A89ECE-2E6F-C892-ACD8-FE9F9AA42C8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39B745-E537-6AF0-8593-37E88590A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AC94-D332-2846-B7AF-8633478E2901}" type="datetimeFigureOut">
              <a:rPr lang="en-US" smtClean="0"/>
              <a:t>12/4/25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1BE357-C4E7-01F1-9D5C-BE9F7B5D7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53ED6A0-F8C0-C6E2-5C3D-1B624340A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BF2A6-2B54-B446-9700-277034C37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937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0B53D-01A2-B749-F8BD-30BBEFDD2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3EA723-0583-CCD3-F12D-8D5F83E38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AC94-D332-2846-B7AF-8633478E2901}" type="datetimeFigureOut">
              <a:rPr lang="en-US" smtClean="0"/>
              <a:t>12/4/25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10436C-B3DB-7CDD-8C43-217E714F4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6FFDF5-9184-BBF6-38CE-7C8E92DE3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BF2A6-2B54-B446-9700-277034C37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1863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FD7824E-EC24-3A88-A766-2537EF26C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AC94-D332-2846-B7AF-8633478E2901}" type="datetimeFigureOut">
              <a:rPr lang="en-US" smtClean="0"/>
              <a:t>12/4/25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33D8CD-109C-D4A2-3715-C1DEBB419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A3DF19-1394-6CE8-9EF3-D250323B8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BF2A6-2B54-B446-9700-277034C37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6939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1AFC26-4068-2B37-FD24-B11A24AD1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2811E9-531E-8079-1312-FBD129582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AF6EF-0997-4AA8-A946-348D8F740A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A5F364-3907-1B9C-D98B-29A289F93B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AC94-D332-2846-B7AF-8633478E2901}" type="datetimeFigureOut">
              <a:rPr lang="en-US" smtClean="0"/>
              <a:t>12/4/25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07C6EB-5568-2275-4B26-111E67B5E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648CB0-776A-C4D6-CCCE-0163E41F9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BF2A6-2B54-B446-9700-277034C37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7686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4F043-477B-8AD2-B7EC-653267D103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E9D197-E12B-64E4-7841-CB9AC1217C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A53686-C65F-39E6-8543-35A7F74088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3B43B7-F0DA-4DED-F649-513A75AC7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AC94-D332-2846-B7AF-8633478E2901}" type="datetimeFigureOut">
              <a:rPr lang="en-US" smtClean="0"/>
              <a:t>12/4/25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E2750-FA09-9128-1362-7CD668488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2EF823-6323-4D01-95A5-7A2FE1429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BF2A6-2B54-B446-9700-277034C37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9783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954D3-5CA6-5696-216F-3E9622D79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ED89E4-0665-3B2C-3F5B-BF989B7597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9ACCC7-6AA9-A2F6-2BB7-014473001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AC94-D332-2846-B7AF-8633478E2901}" type="datetimeFigureOut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C4717A-860E-DF71-8FDE-A8367A68B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77660-D870-23AF-1CC0-F95F0BCDB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BF2A6-2B54-B446-9700-277034C37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4314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A8DA0CA-207F-48AC-E8DF-0421725BF3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24CC5D-4D86-5F29-599B-DD4F15131F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E98609-4A7D-C036-C9E9-89C4D3D90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AC94-D332-2846-B7AF-8633478E2901}" type="datetimeFigureOut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EFACCE-291F-18F3-2A36-38BE9F72E4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2D8836-349B-12BE-FEB5-048FB7954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BF2A6-2B54-B446-9700-277034C37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6261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C6A193-BF34-DAA7-D7CA-687F078CC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538A90-B7E8-E635-A1DD-12F3F5DF7C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BEC5CF-609B-C887-A166-59940DE259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F0AC94-D332-2846-B7AF-8633478E2901}" type="datetimeFigureOut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D6BA3C-B7F9-4DC5-F116-28AD225072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FF72AD-5C25-6D02-8141-EF0C06EB91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1BF2A6-2B54-B446-9700-277034C37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995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svg"/><Relationship Id="rId7" Type="http://schemas.openxmlformats.org/officeDocument/2006/relationships/image" Target="../media/image13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7.svg"/><Relationship Id="rId5" Type="http://schemas.openxmlformats.org/officeDocument/2006/relationships/image" Target="../media/image11.svg"/><Relationship Id="rId10" Type="http://schemas.openxmlformats.org/officeDocument/2006/relationships/image" Target="../media/image16.svg"/><Relationship Id="rId4" Type="http://schemas.openxmlformats.org/officeDocument/2006/relationships/image" Target="../media/image10.png"/><Relationship Id="rId9" Type="http://schemas.openxmlformats.org/officeDocument/2006/relationships/image" Target="../media/image15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11.svg"/><Relationship Id="rId3" Type="http://schemas.openxmlformats.org/officeDocument/2006/relationships/image" Target="../media/image9.svg"/><Relationship Id="rId7" Type="http://schemas.openxmlformats.org/officeDocument/2006/relationships/image" Target="../media/image17.svg"/><Relationship Id="rId12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svg"/><Relationship Id="rId11" Type="http://schemas.openxmlformats.org/officeDocument/2006/relationships/image" Target="../media/image13.svg"/><Relationship Id="rId5" Type="http://schemas.openxmlformats.org/officeDocument/2006/relationships/image" Target="../media/image15.svg"/><Relationship Id="rId10" Type="http://schemas.openxmlformats.org/officeDocument/2006/relationships/image" Target="../media/image12.png"/><Relationship Id="rId4" Type="http://schemas.openxmlformats.org/officeDocument/2006/relationships/image" Target="../media/image14.png"/><Relationship Id="rId9" Type="http://schemas.openxmlformats.org/officeDocument/2006/relationships/image" Target="../media/image5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3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5590D-F439-F21B-695E-2040D2C5B59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Towards Reasoning About Adversarial Protocol Interaction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27AEA2-BDDC-6E5B-96D0-5E761DAD86F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Kirby Linvill</a:t>
            </a:r>
          </a:p>
          <a:p>
            <a:r>
              <a:rPr lang="en-US" dirty="0"/>
              <a:t>December 9</a:t>
            </a:r>
            <a:r>
              <a:rPr lang="en-US" baseline="30000" dirty="0"/>
              <a:t>th</a:t>
            </a:r>
            <a:r>
              <a:rPr lang="en-US" dirty="0"/>
              <a:t>, 2025</a:t>
            </a:r>
          </a:p>
        </p:txBody>
      </p:sp>
    </p:spTree>
    <p:extLst>
      <p:ext uri="{BB962C8B-B14F-4D97-AF65-F5344CB8AC3E}">
        <p14:creationId xmlns:p14="http://schemas.microsoft.com/office/powerpoint/2010/main" val="1336954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A2406-A518-CCB8-67DA-01ADE5323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Protocols that provide security properties are hard to design correctly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3D57C10-928F-B7C1-81F4-AD16DD4C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3051" y="3076892"/>
            <a:ext cx="7177804" cy="200310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1A3D8DF-CC8B-75E9-D9A8-83485359A0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475865"/>
            <a:ext cx="4184851" cy="28987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A8AFBD8-F6C7-50AC-6BCA-8B9B58EE9B7A}"/>
              </a:ext>
            </a:extLst>
          </p:cNvPr>
          <p:cNvSpPr txBox="1"/>
          <p:nvPr/>
        </p:nvSpPr>
        <p:spPr>
          <a:xfrm>
            <a:off x="1694474" y="5374640"/>
            <a:ext cx="139012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rgbClr val="C00000"/>
                </a:solidFill>
              </a:rPr>
              <a:t>1978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E94BD3-C327-FADA-C3AD-84081744BD77}"/>
              </a:ext>
            </a:extLst>
          </p:cNvPr>
          <p:cNvSpPr txBox="1"/>
          <p:nvPr/>
        </p:nvSpPr>
        <p:spPr>
          <a:xfrm>
            <a:off x="7916891" y="5374640"/>
            <a:ext cx="139012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rgbClr val="C00000"/>
                </a:solidFill>
              </a:rPr>
              <a:t>1995</a:t>
            </a:r>
          </a:p>
        </p:txBody>
      </p:sp>
    </p:spTree>
    <p:extLst>
      <p:ext uri="{BB962C8B-B14F-4D97-AF65-F5344CB8AC3E}">
        <p14:creationId xmlns:p14="http://schemas.microsoft.com/office/powerpoint/2010/main" val="525331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2E8C0-BC7C-4307-BD7E-D0FE7AA33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0720" y="365125"/>
            <a:ext cx="11033760" cy="1325563"/>
          </a:xfrm>
        </p:spPr>
        <p:txBody>
          <a:bodyPr/>
          <a:lstStyle/>
          <a:p>
            <a:r>
              <a:rPr lang="en-US" dirty="0"/>
              <a:t>Protocols undergo expert review, but...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BD31C24-7F3D-3E3B-5D80-B6BC12F5C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651" y="1441232"/>
            <a:ext cx="4917440" cy="49174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Graphic 3" descr="Devil face outline with solid fill">
            <a:extLst>
              <a:ext uri="{FF2B5EF4-FFF2-40B4-BE49-F238E27FC236}">
                <a16:creationId xmlns:a16="http://schemas.microsoft.com/office/drawing/2014/main" id="{14B67AEB-08E1-6093-E158-F6340F45BB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99795" y="2296081"/>
            <a:ext cx="1078558" cy="10785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1D3B1E2-8F52-C95A-5A2F-29E5E1840AF4}"/>
              </a:ext>
            </a:extLst>
          </p:cNvPr>
          <p:cNvSpPr txBox="1"/>
          <p:nvPr/>
        </p:nvSpPr>
        <p:spPr>
          <a:xfrm>
            <a:off x="7435903" y="3867705"/>
            <a:ext cx="1056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POODLE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B55922-947C-1936-FA55-F0A6D07FE27B}"/>
              </a:ext>
            </a:extLst>
          </p:cNvPr>
          <p:cNvSpPr txBox="1"/>
          <p:nvPr/>
        </p:nvSpPr>
        <p:spPr>
          <a:xfrm>
            <a:off x="7808330" y="4230729"/>
            <a:ext cx="861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CRIME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3E00FB-4343-2628-CCD0-2CC31FAF034F}"/>
              </a:ext>
            </a:extLst>
          </p:cNvPr>
          <p:cNvSpPr txBox="1"/>
          <p:nvPr/>
        </p:nvSpPr>
        <p:spPr>
          <a:xfrm>
            <a:off x="8584134" y="3877846"/>
            <a:ext cx="8243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BEAST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224082-F0CB-AB9C-CAD0-B7F7A65DC798}"/>
              </a:ext>
            </a:extLst>
          </p:cNvPr>
          <p:cNvSpPr txBox="1"/>
          <p:nvPr/>
        </p:nvSpPr>
        <p:spPr>
          <a:xfrm>
            <a:off x="9861288" y="4215719"/>
            <a:ext cx="10179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DROWN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CED8C-AC76-3D55-2A38-C75D556A9F29}"/>
              </a:ext>
            </a:extLst>
          </p:cNvPr>
          <p:cNvSpPr txBox="1"/>
          <p:nvPr/>
        </p:nvSpPr>
        <p:spPr>
          <a:xfrm>
            <a:off x="8683864" y="4622389"/>
            <a:ext cx="657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SKIP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2EE6D7-AF63-3A36-C630-026665884E92}"/>
              </a:ext>
            </a:extLst>
          </p:cNvPr>
          <p:cNvSpPr txBox="1"/>
          <p:nvPr/>
        </p:nvSpPr>
        <p:spPr>
          <a:xfrm>
            <a:off x="6553200" y="5045901"/>
            <a:ext cx="8418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FREAK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C5E9E3A-9E4A-2234-4220-C8D577B7EDCE}"/>
              </a:ext>
            </a:extLst>
          </p:cNvPr>
          <p:cNvSpPr txBox="1"/>
          <p:nvPr/>
        </p:nvSpPr>
        <p:spPr>
          <a:xfrm>
            <a:off x="9552171" y="3863142"/>
            <a:ext cx="10807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Lucky 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9253D2-CC90-D24F-BB19-151C3F8457C8}"/>
              </a:ext>
            </a:extLst>
          </p:cNvPr>
          <p:cNvSpPr txBox="1"/>
          <p:nvPr/>
        </p:nvSpPr>
        <p:spPr>
          <a:xfrm>
            <a:off x="6701246" y="4623919"/>
            <a:ext cx="189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Triple Handshake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AA827DC-71B5-785E-79E6-B59B3F3FCA3D}"/>
              </a:ext>
            </a:extLst>
          </p:cNvPr>
          <p:cNvSpPr txBox="1"/>
          <p:nvPr/>
        </p:nvSpPr>
        <p:spPr>
          <a:xfrm>
            <a:off x="9444042" y="4622389"/>
            <a:ext cx="13083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Heartbleed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0B4FB7-DFAB-1F1F-0842-CD22EB552254}"/>
              </a:ext>
            </a:extLst>
          </p:cNvPr>
          <p:cNvSpPr txBox="1"/>
          <p:nvPr/>
        </p:nvSpPr>
        <p:spPr>
          <a:xfrm>
            <a:off x="10237240" y="5045901"/>
            <a:ext cx="999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ALPACA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405DCF0-0682-8571-4B1C-EE11DEE6A706}"/>
              </a:ext>
            </a:extLst>
          </p:cNvPr>
          <p:cNvSpPr txBox="1"/>
          <p:nvPr/>
        </p:nvSpPr>
        <p:spPr>
          <a:xfrm>
            <a:off x="9078451" y="5045901"/>
            <a:ext cx="9474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C00000"/>
                </a:solidFill>
              </a:rPr>
              <a:t>LogJam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7578A9-4770-0E06-56FA-77ABF6A9CE75}"/>
              </a:ext>
            </a:extLst>
          </p:cNvPr>
          <p:cNvSpPr txBox="1"/>
          <p:nvPr/>
        </p:nvSpPr>
        <p:spPr>
          <a:xfrm>
            <a:off x="7029320" y="4226856"/>
            <a:ext cx="6655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TIME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34F24CA-1209-73DD-B55C-4413E52DAE37}"/>
              </a:ext>
            </a:extLst>
          </p:cNvPr>
          <p:cNvSpPr txBox="1"/>
          <p:nvPr/>
        </p:nvSpPr>
        <p:spPr>
          <a:xfrm>
            <a:off x="8785039" y="4238954"/>
            <a:ext cx="10656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BREACH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EFC58B7-CEAC-0C96-563F-16173CC6FFC7}"/>
              </a:ext>
            </a:extLst>
          </p:cNvPr>
          <p:cNvSpPr txBox="1"/>
          <p:nvPr/>
        </p:nvSpPr>
        <p:spPr>
          <a:xfrm>
            <a:off x="8115881" y="3436506"/>
            <a:ext cx="1501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SSL Stripping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BBEBC6E-E37C-8239-947E-2D28F2DCD926}"/>
              </a:ext>
            </a:extLst>
          </p:cNvPr>
          <p:cNvSpPr txBox="1"/>
          <p:nvPr/>
        </p:nvSpPr>
        <p:spPr>
          <a:xfrm>
            <a:off x="7725344" y="5045901"/>
            <a:ext cx="1147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STARTTLS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487C7EE-0AEB-2699-3311-BA653ACD4756}"/>
              </a:ext>
            </a:extLst>
          </p:cNvPr>
          <p:cNvSpPr txBox="1"/>
          <p:nvPr/>
        </p:nvSpPr>
        <p:spPr>
          <a:xfrm>
            <a:off x="7189666" y="5608960"/>
            <a:ext cx="3443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accent3"/>
                </a:solidFill>
              </a:rPr>
              <a:t>* No major attacks yet on TLS 1.3</a:t>
            </a:r>
          </a:p>
        </p:txBody>
      </p:sp>
    </p:spTree>
    <p:extLst>
      <p:ext uri="{BB962C8B-B14F-4D97-AF65-F5344CB8AC3E}">
        <p14:creationId xmlns:p14="http://schemas.microsoft.com/office/powerpoint/2010/main" val="2242431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2F096-BCEC-11F6-A37D-BCBB54035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Roadmap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64D2FC-728F-C16D-C75D-6B2BAF508EF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38200" y="2683347"/>
            <a:ext cx="3774790" cy="187149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33B8BD2-979F-2C0A-FA45-03BA10722B0F}"/>
              </a:ext>
            </a:extLst>
          </p:cNvPr>
          <p:cNvSpPr txBox="1"/>
          <p:nvPr/>
        </p:nvSpPr>
        <p:spPr>
          <a:xfrm>
            <a:off x="512807" y="4868561"/>
            <a:ext cx="46070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Modeling Adversaries &amp; Protocols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FDB419C-5281-0F89-93BA-34F5F528F849}"/>
              </a:ext>
            </a:extLst>
          </p:cNvPr>
          <p:cNvGrpSpPr/>
          <p:nvPr/>
        </p:nvGrpSpPr>
        <p:grpSpPr>
          <a:xfrm>
            <a:off x="6660292" y="3150973"/>
            <a:ext cx="4306330" cy="809368"/>
            <a:chOff x="6660292" y="3150973"/>
            <a:chExt cx="4306330" cy="80936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5E994AE-7B3D-D09A-5019-CEE24526139E}"/>
                    </a:ext>
                  </a:extLst>
                </p:cNvPr>
                <p:cNvSpPr txBox="1"/>
                <p:nvPr/>
              </p:nvSpPr>
              <p:spPr>
                <a:xfrm>
                  <a:off x="6824394" y="3309396"/>
                  <a:ext cx="4051943" cy="492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32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∷</m:t>
                        </m:r>
                        <m:r>
                          <a:rPr lang="en-US" sz="32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∘| </m:t>
                        </m:r>
                        <m:r>
                          <a:rPr lang="en-US" sz="32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32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sz="3200" b="0" i="1" smtClean="0">
                                <a:solidFill>
                                  <a:schemeClr val="bg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200" b="0" i="1" smtClean="0">
                                <a:solidFill>
                                  <a:schemeClr val="bg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sz="3200" b="0" i="1" smtClean="0">
                                <a:solidFill>
                                  <a:schemeClr val="bg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3200" b="0" i="1" smtClean="0">
                                <a:solidFill>
                                  <a:schemeClr val="bg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𝜅</m:t>
                            </m:r>
                            <m:r>
                              <a:rPr lang="en-US" sz="3200" b="0" i="1" smtClean="0">
                                <a:solidFill>
                                  <a:schemeClr val="bg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3200" b="0" i="1" smtClean="0">
                                <a:solidFill>
                                  <a:schemeClr val="bg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sz="3200" b="0" i="1" smtClean="0">
                                <a:solidFill>
                                  <a:schemeClr val="bg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3200" b="0" i="1" smtClean="0">
                                    <a:solidFill>
                                      <a:schemeClr val="bg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b="0" i="1" smtClean="0">
                                    <a:solidFill>
                                      <a:schemeClr val="bg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en-US" sz="3200" b="0" i="1" smtClean="0">
                                    <a:solidFill>
                                      <a:schemeClr val="bg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3200" dirty="0">
                    <a:solidFill>
                      <a:schemeClr val="bg2">
                        <a:lumMod val="7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5E994AE-7B3D-D09A-5019-CEE2452613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4394" y="3309396"/>
                  <a:ext cx="4051943" cy="492443"/>
                </a:xfrm>
                <a:prstGeom prst="rect">
                  <a:avLst/>
                </a:prstGeom>
                <a:blipFill>
                  <a:blip r:embed="rId3"/>
                  <a:stretch>
                    <a:fillRect l="-1875" t="-7500" b="-3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3730398-93F9-FA99-8F7A-42F2A21DE2A8}"/>
                </a:ext>
              </a:extLst>
            </p:cNvPr>
            <p:cNvSpPr/>
            <p:nvPr/>
          </p:nvSpPr>
          <p:spPr>
            <a:xfrm>
              <a:off x="6660292" y="3150973"/>
              <a:ext cx="4306330" cy="809368"/>
            </a:xfrm>
            <a:prstGeom prst="rect">
              <a:avLst/>
            </a:prstGeom>
            <a:no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2099F53D-9153-0B5B-96A0-DD946750ABB5}"/>
              </a:ext>
            </a:extLst>
          </p:cNvPr>
          <p:cNvSpPr txBox="1"/>
          <p:nvPr/>
        </p:nvSpPr>
        <p:spPr>
          <a:xfrm>
            <a:off x="7394229" y="4868560"/>
            <a:ext cx="29122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2">
                    <a:lumMod val="75000"/>
                  </a:schemeClr>
                </a:solidFill>
              </a:rPr>
              <a:t>Collected Properties</a:t>
            </a:r>
          </a:p>
        </p:txBody>
      </p:sp>
    </p:spTree>
    <p:extLst>
      <p:ext uri="{BB962C8B-B14F-4D97-AF65-F5344CB8AC3E}">
        <p14:creationId xmlns:p14="http://schemas.microsoft.com/office/powerpoint/2010/main" val="23784136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B5853-4D17-C180-7F8A-DE4324A74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09E0B-FC08-2149-B9A3-945A93CC8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protocol characteristics to model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0642A2-F2A1-AE27-4443-8E8AB33D601A}"/>
              </a:ext>
            </a:extLst>
          </p:cNvPr>
          <p:cNvSpPr/>
          <p:nvPr/>
        </p:nvSpPr>
        <p:spPr>
          <a:xfrm>
            <a:off x="650240" y="2001520"/>
            <a:ext cx="1706880" cy="14630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Alice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FC315E-7174-941E-BE84-5776A8D855D9}"/>
              </a:ext>
            </a:extLst>
          </p:cNvPr>
          <p:cNvSpPr/>
          <p:nvPr/>
        </p:nvSpPr>
        <p:spPr>
          <a:xfrm>
            <a:off x="5877560" y="2096170"/>
            <a:ext cx="1706880" cy="14630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Bob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CAE75E3-AF31-97A3-65E9-91DC8424DA66}"/>
              </a:ext>
            </a:extLst>
          </p:cNvPr>
          <p:cNvCxnSpPr>
            <a:cxnSpLocks/>
          </p:cNvCxnSpPr>
          <p:nvPr/>
        </p:nvCxnSpPr>
        <p:spPr>
          <a:xfrm>
            <a:off x="2357120" y="2438400"/>
            <a:ext cx="3520440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03E2E84A-85F8-4C4D-4D32-16466AF6ADF8}"/>
              </a:ext>
            </a:extLst>
          </p:cNvPr>
          <p:cNvSpPr/>
          <p:nvPr/>
        </p:nvSpPr>
        <p:spPr>
          <a:xfrm>
            <a:off x="3309620" y="4683760"/>
            <a:ext cx="1706880" cy="14630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Charlie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FB41558-35A5-4952-A37D-AD8E0CDAC5E2}"/>
              </a:ext>
            </a:extLst>
          </p:cNvPr>
          <p:cNvCxnSpPr>
            <a:cxnSpLocks/>
          </p:cNvCxnSpPr>
          <p:nvPr/>
        </p:nvCxnSpPr>
        <p:spPr>
          <a:xfrm>
            <a:off x="2357120" y="2946400"/>
            <a:ext cx="3520440" cy="8290"/>
          </a:xfrm>
          <a:prstGeom prst="straightConnector1">
            <a:avLst/>
          </a:prstGeom>
          <a:ln w="57150"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B48610F-70C3-4124-5D39-8F968F712B39}"/>
              </a:ext>
            </a:extLst>
          </p:cNvPr>
          <p:cNvCxnSpPr>
            <a:cxnSpLocks/>
          </p:cNvCxnSpPr>
          <p:nvPr/>
        </p:nvCxnSpPr>
        <p:spPr>
          <a:xfrm>
            <a:off x="1960880" y="3464560"/>
            <a:ext cx="1348740" cy="163576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26328B3-C670-DD6E-B409-AFA1C3887F17}"/>
              </a:ext>
            </a:extLst>
          </p:cNvPr>
          <p:cNvCxnSpPr>
            <a:cxnSpLocks/>
          </p:cNvCxnSpPr>
          <p:nvPr/>
        </p:nvCxnSpPr>
        <p:spPr>
          <a:xfrm>
            <a:off x="1320800" y="3464560"/>
            <a:ext cx="1988820" cy="2245360"/>
          </a:xfrm>
          <a:prstGeom prst="straightConnector1">
            <a:avLst/>
          </a:prstGeom>
          <a:ln w="57150"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23467E6-ACC5-19C7-514E-7937FFDCA5AB}"/>
              </a:ext>
            </a:extLst>
          </p:cNvPr>
          <p:cNvCxnSpPr>
            <a:cxnSpLocks/>
          </p:cNvCxnSpPr>
          <p:nvPr/>
        </p:nvCxnSpPr>
        <p:spPr>
          <a:xfrm flipV="1">
            <a:off x="5006340" y="3543970"/>
            <a:ext cx="1435100" cy="171383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6462C77-3FE3-0957-49FE-7B633DE116D7}"/>
              </a:ext>
            </a:extLst>
          </p:cNvPr>
          <p:cNvCxnSpPr>
            <a:cxnSpLocks/>
          </p:cNvCxnSpPr>
          <p:nvPr/>
        </p:nvCxnSpPr>
        <p:spPr>
          <a:xfrm flipV="1">
            <a:off x="5006340" y="3578191"/>
            <a:ext cx="1998980" cy="2223169"/>
          </a:xfrm>
          <a:prstGeom prst="straightConnector1">
            <a:avLst/>
          </a:prstGeom>
          <a:ln w="57150"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Graphic 27" descr="Key with solid fill">
            <a:extLst>
              <a:ext uri="{FF2B5EF4-FFF2-40B4-BE49-F238E27FC236}">
                <a16:creationId xmlns:a16="http://schemas.microsoft.com/office/drawing/2014/main" id="{E4B2C517-0EE3-9612-AA95-D225723AFF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16040" y="2954690"/>
            <a:ext cx="589280" cy="589280"/>
          </a:xfrm>
          <a:prstGeom prst="rect">
            <a:avLst/>
          </a:prstGeom>
        </p:spPr>
      </p:pic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3A1CFB9F-3A16-5C73-0503-EDF4193BA74D}"/>
              </a:ext>
            </a:extLst>
          </p:cNvPr>
          <p:cNvSpPr/>
          <p:nvPr/>
        </p:nvSpPr>
        <p:spPr>
          <a:xfrm>
            <a:off x="3238500" y="2227298"/>
            <a:ext cx="1859280" cy="3505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Secrets!</a:t>
            </a:r>
          </a:p>
        </p:txBody>
      </p:sp>
      <p:pic>
        <p:nvPicPr>
          <p:cNvPr id="26" name="Graphic 25" descr="Lock with solid fill">
            <a:extLst>
              <a:ext uri="{FF2B5EF4-FFF2-40B4-BE49-F238E27FC236}">
                <a16:creationId xmlns:a16="http://schemas.microsoft.com/office/drawing/2014/main" id="{98403D13-4C54-D91D-BC9C-E038FC51D1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729480" y="1891542"/>
            <a:ext cx="574040" cy="574040"/>
          </a:xfrm>
          <a:prstGeom prst="rect">
            <a:avLst/>
          </a:prstGeom>
        </p:spPr>
      </p:pic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80A6C40A-3B46-07CB-3985-30630BEEEB2C}"/>
              </a:ext>
            </a:extLst>
          </p:cNvPr>
          <p:cNvSpPr/>
          <p:nvPr/>
        </p:nvSpPr>
        <p:spPr>
          <a:xfrm>
            <a:off x="1097280" y="4338320"/>
            <a:ext cx="2080260" cy="3987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I promise...</a:t>
            </a:r>
          </a:p>
        </p:txBody>
      </p:sp>
      <p:pic>
        <p:nvPicPr>
          <p:cNvPr id="32" name="Graphic 31" descr="Signature with solid fill">
            <a:extLst>
              <a:ext uri="{FF2B5EF4-FFF2-40B4-BE49-F238E27FC236}">
                <a16:creationId xmlns:a16="http://schemas.microsoft.com/office/drawing/2014/main" id="{E6577106-257E-2F20-C6E5-42D34BDD067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489200" y="4314190"/>
            <a:ext cx="447040" cy="447040"/>
          </a:xfrm>
          <a:prstGeom prst="rect">
            <a:avLst/>
          </a:prstGeom>
        </p:spPr>
      </p:pic>
      <p:pic>
        <p:nvPicPr>
          <p:cNvPr id="35" name="Graphic 34" descr="Key with solid fill">
            <a:extLst>
              <a:ext uri="{FF2B5EF4-FFF2-40B4-BE49-F238E27FC236}">
                <a16:creationId xmlns:a16="http://schemas.microsoft.com/office/drawing/2014/main" id="{27A46500-491E-1401-D7FB-C41BC70A01E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792220" y="5557520"/>
            <a:ext cx="589280" cy="589280"/>
          </a:xfrm>
          <a:prstGeom prst="rect">
            <a:avLst/>
          </a:prstGeom>
        </p:spPr>
      </p:pic>
      <p:pic>
        <p:nvPicPr>
          <p:cNvPr id="36" name="Graphic 35" descr="Key with solid fill">
            <a:extLst>
              <a:ext uri="{FF2B5EF4-FFF2-40B4-BE49-F238E27FC236}">
                <a16:creationId xmlns:a16="http://schemas.microsoft.com/office/drawing/2014/main" id="{0DB5F4B1-83CB-85F0-7C9D-74C4B2A43C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696720" y="2875280"/>
            <a:ext cx="589280" cy="589280"/>
          </a:xfrm>
          <a:prstGeom prst="rect">
            <a:avLst/>
          </a:prstGeom>
        </p:spPr>
      </p:pic>
      <p:pic>
        <p:nvPicPr>
          <p:cNvPr id="37" name="Graphic 36" descr="Key with solid fill">
            <a:extLst>
              <a:ext uri="{FF2B5EF4-FFF2-40B4-BE49-F238E27FC236}">
                <a16:creationId xmlns:a16="http://schemas.microsoft.com/office/drawing/2014/main" id="{E56DBC42-E38A-B776-3657-8FAE4103E0D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73760" y="2875280"/>
            <a:ext cx="589280" cy="58928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038491B3-976E-7E59-E73C-DD1DEA24331D}"/>
              </a:ext>
            </a:extLst>
          </p:cNvPr>
          <p:cNvSpPr txBox="1"/>
          <p:nvPr/>
        </p:nvSpPr>
        <p:spPr>
          <a:xfrm>
            <a:off x="7866380" y="2879864"/>
            <a:ext cx="454152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u="sng" dirty="0"/>
              <a:t>Need to model: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Participants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Network channels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Cryptographic primitives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/>
              <a:t>Encryption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/>
              <a:t>Signatures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/>
              <a:t>etc.</a:t>
            </a:r>
          </a:p>
        </p:txBody>
      </p:sp>
    </p:spTree>
    <p:extLst>
      <p:ext uri="{BB962C8B-B14F-4D97-AF65-F5344CB8AC3E}">
        <p14:creationId xmlns:p14="http://schemas.microsoft.com/office/powerpoint/2010/main" val="3798261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60463-5C71-CA79-497F-1F86D698C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ADEDD-932F-8EE1-9CE3-492CA86CE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91" y="365125"/>
            <a:ext cx="11267735" cy="1325563"/>
          </a:xfrm>
        </p:spPr>
        <p:txBody>
          <a:bodyPr/>
          <a:lstStyle/>
          <a:p>
            <a:r>
              <a:rPr lang="en-US" dirty="0"/>
              <a:t>Modeling cryptographic operations (UF + Axioms)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E47317-55DC-D50A-C9E7-F2A5EE90D8E5}"/>
              </a:ext>
            </a:extLst>
          </p:cNvPr>
          <p:cNvSpPr txBox="1"/>
          <p:nvPr/>
        </p:nvSpPr>
        <p:spPr>
          <a:xfrm>
            <a:off x="838200" y="2898993"/>
            <a:ext cx="340042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Symmetric Encryption: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60F2F57-23F7-BF4A-ADEC-B40FD47A3033}"/>
                  </a:ext>
                </a:extLst>
              </p:cNvPr>
              <p:cNvSpPr txBox="1"/>
              <p:nvPr/>
            </p:nvSpPr>
            <p:spPr>
              <a:xfrm>
                <a:off x="5076626" y="1849993"/>
                <a:ext cx="146685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60F2F57-23F7-BF4A-ADEC-B40FD47A30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6626" y="1849993"/>
                <a:ext cx="1466850" cy="646331"/>
              </a:xfrm>
              <a:prstGeom prst="rect">
                <a:avLst/>
              </a:prstGeom>
              <a:blipFill>
                <a:blip r:embed="rId2"/>
                <a:stretch>
                  <a:fillRect r="-10256" b="-1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96008D0-759A-03A9-D102-65B7E84169E0}"/>
                  </a:ext>
                </a:extLst>
              </p:cNvPr>
              <p:cNvSpPr txBox="1"/>
              <p:nvPr/>
            </p:nvSpPr>
            <p:spPr>
              <a:xfrm>
                <a:off x="4838500" y="3360658"/>
                <a:ext cx="3676651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𝑑𝑒𝑐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), 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96008D0-759A-03A9-D102-65B7E84169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8500" y="3360658"/>
                <a:ext cx="3676651" cy="646331"/>
              </a:xfrm>
              <a:prstGeom prst="rect">
                <a:avLst/>
              </a:prstGeom>
              <a:blipFill>
                <a:blip r:embed="rId3"/>
                <a:stretch>
                  <a:fillRect b="-1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74A36E4-D262-494F-180D-0F36CE5C24D1}"/>
                  </a:ext>
                </a:extLst>
              </p:cNvPr>
              <p:cNvSpPr txBox="1"/>
              <p:nvPr/>
            </p:nvSpPr>
            <p:spPr>
              <a:xfrm>
                <a:off x="4686100" y="3860036"/>
                <a:ext cx="5181601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’≠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 ⇒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𝑑𝑒𝑐</m:t>
                      </m:r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𝑒𝑛𝑐</m:t>
                          </m:r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’</m:t>
                          </m:r>
                        </m:e>
                      </m:d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 ⊥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74A36E4-D262-494F-180D-0F36CE5C24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6100" y="3860036"/>
                <a:ext cx="5181601" cy="646331"/>
              </a:xfrm>
              <a:prstGeom prst="rect">
                <a:avLst/>
              </a:prstGeom>
              <a:blipFill>
                <a:blip r:embed="rId4"/>
                <a:stretch>
                  <a:fillRect b="-1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E3B69AC-9FCD-EF2F-A241-18444617EECB}"/>
                  </a:ext>
                </a:extLst>
              </p:cNvPr>
              <p:cNvSpPr txBox="1"/>
              <p:nvPr/>
            </p:nvSpPr>
            <p:spPr>
              <a:xfrm>
                <a:off x="4971851" y="2562207"/>
                <a:ext cx="5976939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𝑒𝑛𝑐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𝑒𝑛𝑐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’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’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⇒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’=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∧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’=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E3B69AC-9FCD-EF2F-A241-18444617EE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71851" y="2562207"/>
                <a:ext cx="5976939" cy="646331"/>
              </a:xfrm>
              <a:prstGeom prst="rect">
                <a:avLst/>
              </a:prstGeom>
              <a:blipFill>
                <a:blip r:embed="rId5"/>
                <a:stretch>
                  <a:fillRect r="-1059" b="-1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1508C80-7E14-8B95-3DBD-C73FBBFD90D7}"/>
              </a:ext>
            </a:extLst>
          </p:cNvPr>
          <p:cNvCxnSpPr>
            <a:cxnSpLocks/>
          </p:cNvCxnSpPr>
          <p:nvPr/>
        </p:nvCxnSpPr>
        <p:spPr>
          <a:xfrm flipH="1">
            <a:off x="8391525" y="2209308"/>
            <a:ext cx="980809" cy="5021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2FC79B-5E59-0AC7-4C03-828FA8064FFD}"/>
              </a:ext>
            </a:extLst>
          </p:cNvPr>
          <p:cNvSpPr txBox="1"/>
          <p:nvPr/>
        </p:nvSpPr>
        <p:spPr>
          <a:xfrm>
            <a:off x="9372334" y="1988492"/>
            <a:ext cx="10223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Injective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F0EF1BD-BF5B-4CDB-A4AD-61D10681F6F9}"/>
              </a:ext>
            </a:extLst>
          </p:cNvPr>
          <p:cNvCxnSpPr>
            <a:cxnSpLocks/>
            <a:stCxn id="22" idx="1"/>
            <a:endCxn id="11" idx="3"/>
          </p:cNvCxnSpPr>
          <p:nvPr/>
        </p:nvCxnSpPr>
        <p:spPr>
          <a:xfrm flipH="1" flipV="1">
            <a:off x="8515151" y="3683824"/>
            <a:ext cx="1162050" cy="502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875693D-3035-2AB9-AAEC-DB1B13CB5649}"/>
              </a:ext>
            </a:extLst>
          </p:cNvPr>
          <p:cNvSpPr txBox="1"/>
          <p:nvPr/>
        </p:nvSpPr>
        <p:spPr>
          <a:xfrm>
            <a:off x="9677201" y="3410900"/>
            <a:ext cx="21471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Decryption requires</a:t>
            </a:r>
          </a:p>
          <a:p>
            <a:r>
              <a:rPr lang="en-US" dirty="0">
                <a:solidFill>
                  <a:schemeClr val="tx2"/>
                </a:solidFill>
              </a:rPr>
              <a:t>same key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860BA79-1B47-C600-4D1F-0C01AF7E2E0F}"/>
              </a:ext>
            </a:extLst>
          </p:cNvPr>
          <p:cNvCxnSpPr>
            <a:cxnSpLocks/>
            <a:stCxn id="22" idx="1"/>
          </p:cNvCxnSpPr>
          <p:nvPr/>
        </p:nvCxnSpPr>
        <p:spPr>
          <a:xfrm flipH="1">
            <a:off x="9439076" y="3734066"/>
            <a:ext cx="238125" cy="3610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6581236-08CD-67AC-DBF7-C44F8ED44A38}"/>
              </a:ext>
            </a:extLst>
          </p:cNvPr>
          <p:cNvSpPr txBox="1"/>
          <p:nvPr/>
        </p:nvSpPr>
        <p:spPr>
          <a:xfrm>
            <a:off x="1443723" y="5379481"/>
            <a:ext cx="27949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Digital Signatures: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739BCD1-C3F0-3E21-B846-006973099E88}"/>
                  </a:ext>
                </a:extLst>
              </p:cNvPr>
              <p:cNvSpPr txBox="1"/>
              <p:nvPr/>
            </p:nvSpPr>
            <p:spPr>
              <a:xfrm>
                <a:off x="4971850" y="4733150"/>
                <a:ext cx="1704975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0" dirty="0" smtClean="0">
                          <a:latin typeface="Cambria Math" panose="02040503050406030204" pitchFamily="18" charset="0"/>
                        </a:rPr>
                        <m:t>𝑠𝑖𝑔𝑛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739BCD1-C3F0-3E21-B846-006973099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71850" y="4733150"/>
                <a:ext cx="1704975" cy="646331"/>
              </a:xfrm>
              <a:prstGeom prst="rect">
                <a:avLst/>
              </a:prstGeom>
              <a:blipFill>
                <a:blip r:embed="rId6"/>
                <a:stretch>
                  <a:fillRect l="-2963" r="-11111" b="-1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FF66DFB-0D7A-832E-3381-BC7BE0EDEDA3}"/>
                  </a:ext>
                </a:extLst>
              </p:cNvPr>
              <p:cNvSpPr txBox="1"/>
              <p:nvPr/>
            </p:nvSpPr>
            <p:spPr>
              <a:xfrm rot="5400000">
                <a:off x="5715484" y="5379482"/>
                <a:ext cx="646332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...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FF66DFB-0D7A-832E-3381-BC7BE0EDED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715484" y="5379482"/>
                <a:ext cx="646332" cy="646331"/>
              </a:xfrm>
              <a:prstGeom prst="rect">
                <a:avLst/>
              </a:prstGeom>
              <a:blipFill>
                <a:blip r:embed="rId7"/>
                <a:stretch>
                  <a:fillRect l="-11538" b="-1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Left Brace 31">
            <a:extLst>
              <a:ext uri="{FF2B5EF4-FFF2-40B4-BE49-F238E27FC236}">
                <a16:creationId xmlns:a16="http://schemas.microsoft.com/office/drawing/2014/main" id="{454C556C-CC8E-5BB3-B039-A25BAA004167}"/>
              </a:ext>
            </a:extLst>
          </p:cNvPr>
          <p:cNvSpPr/>
          <p:nvPr/>
        </p:nvSpPr>
        <p:spPr>
          <a:xfrm>
            <a:off x="4386196" y="2034659"/>
            <a:ext cx="438084" cy="2299216"/>
          </a:xfrm>
          <a:prstGeom prst="leftBrace">
            <a:avLst>
              <a:gd name="adj1" fmla="val 56403"/>
              <a:gd name="adj2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Left Brace 32">
            <a:extLst>
              <a:ext uri="{FF2B5EF4-FFF2-40B4-BE49-F238E27FC236}">
                <a16:creationId xmlns:a16="http://schemas.microsoft.com/office/drawing/2014/main" id="{E6D64C88-7F86-6D2F-C58A-F9D76AB66BE9}"/>
              </a:ext>
            </a:extLst>
          </p:cNvPr>
          <p:cNvSpPr/>
          <p:nvPr/>
        </p:nvSpPr>
        <p:spPr>
          <a:xfrm>
            <a:off x="4452936" y="4955503"/>
            <a:ext cx="438084" cy="1325563"/>
          </a:xfrm>
          <a:prstGeom prst="leftBrace">
            <a:avLst>
              <a:gd name="adj1" fmla="val 56403"/>
              <a:gd name="adj2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8486FD2-9A27-DCE5-C367-0BFB0B3C2FE6}"/>
              </a:ext>
            </a:extLst>
          </p:cNvPr>
          <p:cNvCxnSpPr>
            <a:cxnSpLocks/>
          </p:cNvCxnSpPr>
          <p:nvPr/>
        </p:nvCxnSpPr>
        <p:spPr>
          <a:xfrm>
            <a:off x="5076626" y="1780782"/>
            <a:ext cx="210140" cy="2989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8340F047-A22E-6A55-9921-FD4AD6E39BE4}"/>
              </a:ext>
            </a:extLst>
          </p:cNvPr>
          <p:cNvSpPr txBox="1"/>
          <p:nvPr/>
        </p:nvSpPr>
        <p:spPr>
          <a:xfrm>
            <a:off x="3852092" y="1447326"/>
            <a:ext cx="2449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Uninterpreted function</a:t>
            </a:r>
          </a:p>
        </p:txBody>
      </p:sp>
    </p:spTree>
    <p:extLst>
      <p:ext uri="{BB962C8B-B14F-4D97-AF65-F5344CB8AC3E}">
        <p14:creationId xmlns:p14="http://schemas.microsoft.com/office/powerpoint/2010/main" val="94311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4" grpId="0"/>
      <p:bldP spid="15" grpId="0"/>
      <p:bldP spid="20" grpId="0"/>
      <p:bldP spid="22" grpId="0"/>
      <p:bldP spid="29" grpId="0"/>
      <p:bldP spid="30" grpId="0"/>
      <p:bldP spid="31" grpId="0"/>
      <p:bldP spid="3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F5076-DC91-2C51-70EE-5782999F5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adversary characteristics to model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3E4D9F9-355C-295A-B947-10A9C11552D6}"/>
              </a:ext>
            </a:extLst>
          </p:cNvPr>
          <p:cNvSpPr/>
          <p:nvPr/>
        </p:nvSpPr>
        <p:spPr>
          <a:xfrm>
            <a:off x="650240" y="2001520"/>
            <a:ext cx="1706880" cy="14630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Alice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65A75ED-E05F-4336-6B4A-F083A46B6D64}"/>
              </a:ext>
            </a:extLst>
          </p:cNvPr>
          <p:cNvSpPr/>
          <p:nvPr/>
        </p:nvSpPr>
        <p:spPr>
          <a:xfrm>
            <a:off x="7538720" y="2001520"/>
            <a:ext cx="1706880" cy="14630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Bob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BAA3003-760A-194A-25FE-24C3F60CD396}"/>
              </a:ext>
            </a:extLst>
          </p:cNvPr>
          <p:cNvCxnSpPr>
            <a:cxnSpLocks/>
          </p:cNvCxnSpPr>
          <p:nvPr/>
        </p:nvCxnSpPr>
        <p:spPr>
          <a:xfrm>
            <a:off x="2357120" y="2438400"/>
            <a:ext cx="5181600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4DBF79F-F9C3-2EEC-9F06-96604DFBF88D}"/>
              </a:ext>
            </a:extLst>
          </p:cNvPr>
          <p:cNvSpPr/>
          <p:nvPr/>
        </p:nvSpPr>
        <p:spPr>
          <a:xfrm>
            <a:off x="4094480" y="4683760"/>
            <a:ext cx="1706880" cy="14630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Charlie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5C5DBB3-A620-C302-13B5-C5ECE7323388}"/>
              </a:ext>
            </a:extLst>
          </p:cNvPr>
          <p:cNvCxnSpPr>
            <a:cxnSpLocks/>
          </p:cNvCxnSpPr>
          <p:nvPr/>
        </p:nvCxnSpPr>
        <p:spPr>
          <a:xfrm>
            <a:off x="2357120" y="2946400"/>
            <a:ext cx="5181600" cy="0"/>
          </a:xfrm>
          <a:prstGeom prst="straightConnector1">
            <a:avLst/>
          </a:prstGeom>
          <a:ln w="57150"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6809F1C-0141-304B-DFD5-2A54D619A61C}"/>
              </a:ext>
            </a:extLst>
          </p:cNvPr>
          <p:cNvCxnSpPr>
            <a:cxnSpLocks/>
          </p:cNvCxnSpPr>
          <p:nvPr/>
        </p:nvCxnSpPr>
        <p:spPr>
          <a:xfrm>
            <a:off x="1960880" y="3464560"/>
            <a:ext cx="2133600" cy="1737359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EDB781A-45EE-8B6A-E0BE-B53A39B9ED18}"/>
              </a:ext>
            </a:extLst>
          </p:cNvPr>
          <p:cNvCxnSpPr>
            <a:cxnSpLocks/>
          </p:cNvCxnSpPr>
          <p:nvPr/>
        </p:nvCxnSpPr>
        <p:spPr>
          <a:xfrm>
            <a:off x="1320800" y="3464560"/>
            <a:ext cx="2773680" cy="2326640"/>
          </a:xfrm>
          <a:prstGeom prst="straightConnector1">
            <a:avLst/>
          </a:prstGeom>
          <a:ln w="57150"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9914094-2FC9-E433-D154-677A57DC7C40}"/>
              </a:ext>
            </a:extLst>
          </p:cNvPr>
          <p:cNvCxnSpPr>
            <a:cxnSpLocks/>
          </p:cNvCxnSpPr>
          <p:nvPr/>
        </p:nvCxnSpPr>
        <p:spPr>
          <a:xfrm flipV="1">
            <a:off x="5801360" y="3454400"/>
            <a:ext cx="2275840" cy="196088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27B8BCD-0F57-8ED9-3A47-207AA507761F}"/>
              </a:ext>
            </a:extLst>
          </p:cNvPr>
          <p:cNvCxnSpPr>
            <a:cxnSpLocks/>
          </p:cNvCxnSpPr>
          <p:nvPr/>
        </p:nvCxnSpPr>
        <p:spPr>
          <a:xfrm flipV="1">
            <a:off x="5801360" y="3464560"/>
            <a:ext cx="2997200" cy="2326640"/>
          </a:xfrm>
          <a:prstGeom prst="straightConnector1">
            <a:avLst/>
          </a:prstGeom>
          <a:ln w="57150"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Graphic 27" descr="Key with solid fill">
            <a:extLst>
              <a:ext uri="{FF2B5EF4-FFF2-40B4-BE49-F238E27FC236}">
                <a16:creationId xmlns:a16="http://schemas.microsoft.com/office/drawing/2014/main" id="{091966CF-20AC-1A61-F2DF-CE2326B660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77200" y="2860040"/>
            <a:ext cx="589280" cy="589280"/>
          </a:xfrm>
          <a:prstGeom prst="rect">
            <a:avLst/>
          </a:prstGeom>
        </p:spPr>
      </p:pic>
      <p:pic>
        <p:nvPicPr>
          <p:cNvPr id="35" name="Graphic 34" descr="Key with solid fill">
            <a:extLst>
              <a:ext uri="{FF2B5EF4-FFF2-40B4-BE49-F238E27FC236}">
                <a16:creationId xmlns:a16="http://schemas.microsoft.com/office/drawing/2014/main" id="{B8CD1297-F6FB-78CA-7BBA-F00E233AF7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7080" y="5557520"/>
            <a:ext cx="589280" cy="589280"/>
          </a:xfrm>
          <a:prstGeom prst="rect">
            <a:avLst/>
          </a:prstGeom>
        </p:spPr>
      </p:pic>
      <p:pic>
        <p:nvPicPr>
          <p:cNvPr id="36" name="Graphic 35" descr="Key with solid fill">
            <a:extLst>
              <a:ext uri="{FF2B5EF4-FFF2-40B4-BE49-F238E27FC236}">
                <a16:creationId xmlns:a16="http://schemas.microsoft.com/office/drawing/2014/main" id="{19417CDA-5FBA-11B9-0962-9D0E55BB2E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96720" y="2875280"/>
            <a:ext cx="589280" cy="589280"/>
          </a:xfrm>
          <a:prstGeom prst="rect">
            <a:avLst/>
          </a:prstGeom>
        </p:spPr>
      </p:pic>
      <p:pic>
        <p:nvPicPr>
          <p:cNvPr id="37" name="Graphic 36" descr="Key with solid fill">
            <a:extLst>
              <a:ext uri="{FF2B5EF4-FFF2-40B4-BE49-F238E27FC236}">
                <a16:creationId xmlns:a16="http://schemas.microsoft.com/office/drawing/2014/main" id="{7EC96176-4230-7D06-7B6C-9C4A1693CB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73760" y="2875280"/>
            <a:ext cx="589280" cy="589280"/>
          </a:xfrm>
          <a:prstGeom prst="rect">
            <a:avLst/>
          </a:prstGeom>
        </p:spPr>
      </p:pic>
      <p:pic>
        <p:nvPicPr>
          <p:cNvPr id="40" name="Graphic 39" descr="Devil face outline with solid fill">
            <a:extLst>
              <a:ext uri="{FF2B5EF4-FFF2-40B4-BE49-F238E27FC236}">
                <a16:creationId xmlns:a16="http://schemas.microsoft.com/office/drawing/2014/main" id="{FBF7B98B-870D-C6C9-D4D7-F9CB3EFA2EE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405302" y="3168322"/>
            <a:ext cx="1078558" cy="1078558"/>
          </a:xfrm>
          <a:prstGeom prst="rect">
            <a:avLst/>
          </a:prstGeom>
        </p:spPr>
      </p:pic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C27447C2-3837-0B26-956B-F5833245D344}"/>
              </a:ext>
            </a:extLst>
          </p:cNvPr>
          <p:cNvCxnSpPr>
            <a:cxnSpLocks/>
          </p:cNvCxnSpPr>
          <p:nvPr/>
        </p:nvCxnSpPr>
        <p:spPr>
          <a:xfrm>
            <a:off x="2357120" y="2430780"/>
            <a:ext cx="2054860" cy="869950"/>
          </a:xfrm>
          <a:prstGeom prst="straightConnector1">
            <a:avLst/>
          </a:prstGeom>
          <a:ln w="57150"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9EF92FB2-A215-2D19-61F6-A5F3B0078F14}"/>
              </a:ext>
            </a:extLst>
          </p:cNvPr>
          <p:cNvCxnSpPr>
            <a:cxnSpLocks/>
          </p:cNvCxnSpPr>
          <p:nvPr/>
        </p:nvCxnSpPr>
        <p:spPr>
          <a:xfrm flipV="1">
            <a:off x="5433060" y="2946400"/>
            <a:ext cx="2098982" cy="354330"/>
          </a:xfrm>
          <a:prstGeom prst="straightConnector1">
            <a:avLst/>
          </a:prstGeom>
          <a:ln w="57150">
            <a:prstDash val="sys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A7BA9B2-F967-2C52-0906-EFAE9E2006CC}"/>
              </a:ext>
            </a:extLst>
          </p:cNvPr>
          <p:cNvCxnSpPr>
            <a:cxnSpLocks/>
            <a:endCxn id="40" idx="1"/>
          </p:cNvCxnSpPr>
          <p:nvPr/>
        </p:nvCxnSpPr>
        <p:spPr>
          <a:xfrm>
            <a:off x="1960880" y="3464560"/>
            <a:ext cx="2444422" cy="243041"/>
          </a:xfrm>
          <a:prstGeom prst="straightConnector1">
            <a:avLst/>
          </a:prstGeom>
          <a:ln w="57150"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2C082A5-7D46-001D-E3A8-CE432F894D35}"/>
              </a:ext>
            </a:extLst>
          </p:cNvPr>
          <p:cNvCxnSpPr>
            <a:cxnSpLocks/>
          </p:cNvCxnSpPr>
          <p:nvPr/>
        </p:nvCxnSpPr>
        <p:spPr>
          <a:xfrm flipV="1">
            <a:off x="4087802" y="4040822"/>
            <a:ext cx="545158" cy="1750377"/>
          </a:xfrm>
          <a:prstGeom prst="straightConnector1">
            <a:avLst/>
          </a:prstGeom>
          <a:ln w="57150"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AC077F55-0DFF-D3A6-366E-3DD3CB3CF6F7}"/>
              </a:ext>
            </a:extLst>
          </p:cNvPr>
          <p:cNvCxnSpPr>
            <a:cxnSpLocks/>
            <a:stCxn id="9" idx="3"/>
          </p:cNvCxnSpPr>
          <p:nvPr/>
        </p:nvCxnSpPr>
        <p:spPr>
          <a:xfrm flipH="1" flipV="1">
            <a:off x="5237480" y="4040821"/>
            <a:ext cx="563880" cy="1374459"/>
          </a:xfrm>
          <a:prstGeom prst="straightConnector1">
            <a:avLst/>
          </a:prstGeom>
          <a:ln w="57150"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6273EF0B-CA81-2F9A-3868-3833ACD099FD}"/>
              </a:ext>
            </a:extLst>
          </p:cNvPr>
          <p:cNvCxnSpPr>
            <a:cxnSpLocks/>
          </p:cNvCxnSpPr>
          <p:nvPr/>
        </p:nvCxnSpPr>
        <p:spPr>
          <a:xfrm flipH="1">
            <a:off x="5433060" y="3464559"/>
            <a:ext cx="3365500" cy="436881"/>
          </a:xfrm>
          <a:prstGeom prst="straightConnector1">
            <a:avLst/>
          </a:prstGeom>
          <a:ln w="57150"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6C520F8B-8557-3963-047E-5A4C1A98F9BA}"/>
              </a:ext>
            </a:extLst>
          </p:cNvPr>
          <p:cNvCxnSpPr>
            <a:cxnSpLocks/>
          </p:cNvCxnSpPr>
          <p:nvPr/>
        </p:nvCxnSpPr>
        <p:spPr>
          <a:xfrm flipV="1">
            <a:off x="5433060" y="2411878"/>
            <a:ext cx="2105660" cy="676761"/>
          </a:xfrm>
          <a:prstGeom prst="straightConnector1">
            <a:avLst/>
          </a:prstGeom>
          <a:ln w="57150"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9245CA07-9C9B-8EBD-4CD4-CEEA9F2F9390}"/>
              </a:ext>
            </a:extLst>
          </p:cNvPr>
          <p:cNvCxnSpPr>
            <a:cxnSpLocks/>
          </p:cNvCxnSpPr>
          <p:nvPr/>
        </p:nvCxnSpPr>
        <p:spPr>
          <a:xfrm flipV="1">
            <a:off x="5483860" y="3459319"/>
            <a:ext cx="2570009" cy="248282"/>
          </a:xfrm>
          <a:prstGeom prst="straightConnector1">
            <a:avLst/>
          </a:prstGeom>
          <a:ln w="57150"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E88C1845-06B2-E3BE-534E-73F77D42856B}"/>
              </a:ext>
            </a:extLst>
          </p:cNvPr>
          <p:cNvCxnSpPr>
            <a:cxnSpLocks/>
          </p:cNvCxnSpPr>
          <p:nvPr/>
        </p:nvCxnSpPr>
        <p:spPr>
          <a:xfrm>
            <a:off x="5080000" y="4104638"/>
            <a:ext cx="182880" cy="579122"/>
          </a:xfrm>
          <a:prstGeom prst="straightConnector1">
            <a:avLst/>
          </a:prstGeom>
          <a:ln w="57150"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FE913E92-CE5E-EF70-F454-FB34B9615406}"/>
              </a:ext>
            </a:extLst>
          </p:cNvPr>
          <p:cNvCxnSpPr>
            <a:cxnSpLocks/>
          </p:cNvCxnSpPr>
          <p:nvPr/>
        </p:nvCxnSpPr>
        <p:spPr>
          <a:xfrm flipH="1">
            <a:off x="4653281" y="4173229"/>
            <a:ext cx="168111" cy="554821"/>
          </a:xfrm>
          <a:prstGeom prst="straightConnector1">
            <a:avLst/>
          </a:prstGeom>
          <a:ln w="57150"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17D059C4-6804-04EC-2614-477C83DA9E61}"/>
              </a:ext>
            </a:extLst>
          </p:cNvPr>
          <p:cNvCxnSpPr>
            <a:cxnSpLocks/>
          </p:cNvCxnSpPr>
          <p:nvPr/>
        </p:nvCxnSpPr>
        <p:spPr>
          <a:xfrm flipH="1" flipV="1">
            <a:off x="1336040" y="3490741"/>
            <a:ext cx="3075940" cy="470397"/>
          </a:xfrm>
          <a:prstGeom prst="straightConnector1">
            <a:avLst/>
          </a:prstGeom>
          <a:ln w="57150"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A078047A-6B19-F6AA-A730-D2846D35568C}"/>
              </a:ext>
            </a:extLst>
          </p:cNvPr>
          <p:cNvCxnSpPr>
            <a:cxnSpLocks/>
          </p:cNvCxnSpPr>
          <p:nvPr/>
        </p:nvCxnSpPr>
        <p:spPr>
          <a:xfrm flipH="1" flipV="1">
            <a:off x="2357120" y="2956560"/>
            <a:ext cx="2070100" cy="562602"/>
          </a:xfrm>
          <a:prstGeom prst="straightConnector1">
            <a:avLst/>
          </a:prstGeom>
          <a:ln w="57150"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4" name="Group 83">
            <a:extLst>
              <a:ext uri="{FF2B5EF4-FFF2-40B4-BE49-F238E27FC236}">
                <a16:creationId xmlns:a16="http://schemas.microsoft.com/office/drawing/2014/main" id="{8225A22C-F9F6-0177-1CF0-A9647159A23A}"/>
              </a:ext>
            </a:extLst>
          </p:cNvPr>
          <p:cNvGrpSpPr/>
          <p:nvPr/>
        </p:nvGrpSpPr>
        <p:grpSpPr>
          <a:xfrm>
            <a:off x="1625600" y="4850130"/>
            <a:ext cx="2080260" cy="447040"/>
            <a:chOff x="1625600" y="4850130"/>
            <a:chExt cx="2080260" cy="447040"/>
          </a:xfrm>
        </p:grpSpPr>
        <p:sp>
          <p:nvSpPr>
            <p:cNvPr id="34" name="Rounded Rectangle 33">
              <a:extLst>
                <a:ext uri="{FF2B5EF4-FFF2-40B4-BE49-F238E27FC236}">
                  <a16:creationId xmlns:a16="http://schemas.microsoft.com/office/drawing/2014/main" id="{6A49431E-2A33-CD96-E74E-05874646D4E5}"/>
                </a:ext>
              </a:extLst>
            </p:cNvPr>
            <p:cNvSpPr/>
            <p:nvPr/>
          </p:nvSpPr>
          <p:spPr>
            <a:xfrm>
              <a:off x="1625600" y="4874260"/>
              <a:ext cx="2080260" cy="39878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/>
                <a:t>I promise...</a:t>
              </a:r>
            </a:p>
          </p:txBody>
        </p:sp>
        <p:pic>
          <p:nvPicPr>
            <p:cNvPr id="32" name="Graphic 31" descr="Signature with solid fill">
              <a:extLst>
                <a:ext uri="{FF2B5EF4-FFF2-40B4-BE49-F238E27FC236}">
                  <a16:creationId xmlns:a16="http://schemas.microsoft.com/office/drawing/2014/main" id="{26B38076-F3B1-4B90-D03C-28622AE0EE6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017520" y="4850130"/>
              <a:ext cx="447040" cy="447040"/>
            </a:xfrm>
            <a:prstGeom prst="rect">
              <a:avLst/>
            </a:prstGeom>
          </p:spPr>
        </p:pic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E0286FFE-73C0-B160-9865-3E032F89804C}"/>
              </a:ext>
            </a:extLst>
          </p:cNvPr>
          <p:cNvGrpSpPr/>
          <p:nvPr/>
        </p:nvGrpSpPr>
        <p:grpSpPr>
          <a:xfrm>
            <a:off x="3942080" y="1919764"/>
            <a:ext cx="2065020" cy="686276"/>
            <a:chOff x="3942080" y="1919764"/>
            <a:chExt cx="2065020" cy="686276"/>
          </a:xfrm>
        </p:grpSpPr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217D4F05-4450-103A-621A-6061136E47B5}"/>
                </a:ext>
              </a:extLst>
            </p:cNvPr>
            <p:cNvSpPr/>
            <p:nvPr/>
          </p:nvSpPr>
          <p:spPr>
            <a:xfrm>
              <a:off x="3942080" y="2255520"/>
              <a:ext cx="1859280" cy="35052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Secrets!</a:t>
              </a:r>
            </a:p>
          </p:txBody>
        </p:sp>
        <p:pic>
          <p:nvPicPr>
            <p:cNvPr id="26" name="Graphic 25" descr="Lock with solid fill">
              <a:extLst>
                <a:ext uri="{FF2B5EF4-FFF2-40B4-BE49-F238E27FC236}">
                  <a16:creationId xmlns:a16="http://schemas.microsoft.com/office/drawing/2014/main" id="{C47AD5CD-28B3-55DF-9EEB-D111ED618B5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433060" y="1919764"/>
              <a:ext cx="574040" cy="574040"/>
            </a:xfrm>
            <a:prstGeom prst="rect">
              <a:avLst/>
            </a:prstGeom>
          </p:spPr>
        </p:pic>
      </p:grpSp>
      <p:sp>
        <p:nvSpPr>
          <p:cNvPr id="85" name="TextBox 84">
            <a:extLst>
              <a:ext uri="{FF2B5EF4-FFF2-40B4-BE49-F238E27FC236}">
                <a16:creationId xmlns:a16="http://schemas.microsoft.com/office/drawing/2014/main" id="{F1F1E7CA-6F7B-D475-FD6A-E4A72BFD07BB}"/>
              </a:ext>
            </a:extLst>
          </p:cNvPr>
          <p:cNvSpPr txBox="1"/>
          <p:nvPr/>
        </p:nvSpPr>
        <p:spPr>
          <a:xfrm>
            <a:off x="7696200" y="4406204"/>
            <a:ext cx="454152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u="sng" dirty="0"/>
              <a:t>Need to model:</a:t>
            </a: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Network control (MITM)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Attacker computation</a:t>
            </a:r>
          </a:p>
        </p:txBody>
      </p:sp>
    </p:spTree>
    <p:extLst>
      <p:ext uri="{BB962C8B-B14F-4D97-AF65-F5344CB8AC3E}">
        <p14:creationId xmlns:p14="http://schemas.microsoft.com/office/powerpoint/2010/main" val="3058217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4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4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352 -0.00509 L 0.10651 -0.10115 " pathEditMode="relative" rAng="0" ptsTypes="AA">
                                      <p:cBhvr>
                                        <p:cTn id="60" dur="2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143" y="-4815"/>
                                    </p:animMotion>
                                  </p:childTnLst>
                                </p:cTn>
                              </p:par>
                              <p:par>
                                <p:cTn id="61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34 0.02176 L -0.10481 0.0581 " pathEditMode="relative" rAng="0" ptsTypes="AA">
                                      <p:cBhvr>
                                        <p:cTn id="62" dur="20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130" y="1806"/>
                                    </p:animMotion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C1323-9E2B-4417-64BF-852BED5DE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74A4D-6019-920A-AA12-DD8C225D0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adversaries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77B5EE-33B2-7A3D-DF94-68ED331B74EE}"/>
              </a:ext>
            </a:extLst>
          </p:cNvPr>
          <p:cNvSpPr txBox="1"/>
          <p:nvPr/>
        </p:nvSpPr>
        <p:spPr>
          <a:xfrm>
            <a:off x="1450117" y="6187831"/>
            <a:ext cx="85494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*Aside: this kind of adversary is called a Symbolic Adversary (or Dolev-Yao Adversary)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0B209BF-9BEB-9DCB-B90F-21433A52C113}"/>
              </a:ext>
            </a:extLst>
          </p:cNvPr>
          <p:cNvSpPr/>
          <p:nvPr/>
        </p:nvSpPr>
        <p:spPr>
          <a:xfrm>
            <a:off x="1152652" y="2423046"/>
            <a:ext cx="1706880" cy="14630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Alice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AA8F0E-AA3D-72A7-CEBB-759645219EA4}"/>
              </a:ext>
            </a:extLst>
          </p:cNvPr>
          <p:cNvSpPr/>
          <p:nvPr/>
        </p:nvSpPr>
        <p:spPr>
          <a:xfrm>
            <a:off x="8161808" y="2554764"/>
            <a:ext cx="1706880" cy="14630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Bob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4438D57-F950-63E7-ED73-E6A4D9354B8A}"/>
              </a:ext>
            </a:extLst>
          </p:cNvPr>
          <p:cNvSpPr/>
          <p:nvPr/>
        </p:nvSpPr>
        <p:spPr>
          <a:xfrm>
            <a:off x="4624861" y="4292035"/>
            <a:ext cx="1706880" cy="14630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Charlie</a:t>
            </a:r>
          </a:p>
        </p:txBody>
      </p:sp>
      <p:pic>
        <p:nvPicPr>
          <p:cNvPr id="18" name="Graphic 17" descr="Devil face outline with solid fill">
            <a:extLst>
              <a:ext uri="{FF2B5EF4-FFF2-40B4-BE49-F238E27FC236}">
                <a16:creationId xmlns:a16="http://schemas.microsoft.com/office/drawing/2014/main" id="{FB2AF799-3F97-7AEA-680D-E24026A9E8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91077" y="2939246"/>
            <a:ext cx="1078558" cy="1078558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57A946C-DBAC-B628-D185-86105CE4BEAF}"/>
              </a:ext>
            </a:extLst>
          </p:cNvPr>
          <p:cNvCxnSpPr>
            <a:cxnSpLocks/>
            <a:stCxn id="3" idx="3"/>
            <a:endCxn id="18" idx="1"/>
          </p:cNvCxnSpPr>
          <p:nvPr/>
        </p:nvCxnSpPr>
        <p:spPr>
          <a:xfrm>
            <a:off x="2859532" y="3154566"/>
            <a:ext cx="2031545" cy="323959"/>
          </a:xfrm>
          <a:prstGeom prst="straightConnector1">
            <a:avLst/>
          </a:prstGeom>
          <a:ln w="57150"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C460C7D-A3F8-D3F3-3E19-0BF6D4A2D4BA}"/>
              </a:ext>
            </a:extLst>
          </p:cNvPr>
          <p:cNvCxnSpPr>
            <a:cxnSpLocks/>
            <a:stCxn id="18" idx="3"/>
            <a:endCxn id="6" idx="1"/>
          </p:cNvCxnSpPr>
          <p:nvPr/>
        </p:nvCxnSpPr>
        <p:spPr>
          <a:xfrm flipV="1">
            <a:off x="5969635" y="3286284"/>
            <a:ext cx="2192173" cy="192241"/>
          </a:xfrm>
          <a:prstGeom prst="straightConnector1">
            <a:avLst/>
          </a:prstGeom>
          <a:ln w="57150"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1B384393-5AA7-EF31-C878-B66EB8CC3951}"/>
              </a:ext>
            </a:extLst>
          </p:cNvPr>
          <p:cNvSpPr/>
          <p:nvPr/>
        </p:nvSpPr>
        <p:spPr>
          <a:xfrm>
            <a:off x="2875152" y="2979306"/>
            <a:ext cx="1000152" cy="3505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Hi Bob!</a:t>
            </a:r>
          </a:p>
        </p:txBody>
      </p:sp>
      <p:sp>
        <p:nvSpPr>
          <p:cNvPr id="37" name="Cloud Callout 36">
            <a:extLst>
              <a:ext uri="{FF2B5EF4-FFF2-40B4-BE49-F238E27FC236}">
                <a16:creationId xmlns:a16="http://schemas.microsoft.com/office/drawing/2014/main" id="{8E9A3FC7-A98C-35A8-34E7-419FE390C271}"/>
              </a:ext>
            </a:extLst>
          </p:cNvPr>
          <p:cNvSpPr/>
          <p:nvPr/>
        </p:nvSpPr>
        <p:spPr>
          <a:xfrm>
            <a:off x="5721565" y="782796"/>
            <a:ext cx="4147123" cy="1675289"/>
          </a:xfrm>
          <a:prstGeom prst="cloudCallout">
            <a:avLst>
              <a:gd name="adj1" fmla="val -43813"/>
              <a:gd name="adj2" fmla="val 74770"/>
            </a:avLst>
          </a:prstGeom>
          <a:solidFill>
            <a:srgbClr val="C00000"/>
          </a:solidFill>
          <a:ln>
            <a:solidFill>
              <a:srgbClr val="7F000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285DF5E-E61B-C598-21A4-968CE6DBE315}"/>
              </a:ext>
            </a:extLst>
          </p:cNvPr>
          <p:cNvSpPr txBox="1"/>
          <p:nvPr/>
        </p:nvSpPr>
        <p:spPr>
          <a:xfrm>
            <a:off x="6467981" y="1620440"/>
            <a:ext cx="9691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“sucks”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20546B-5ED8-21F8-19A8-491D5E992722}"/>
              </a:ext>
            </a:extLst>
          </p:cNvPr>
          <p:cNvSpPr txBox="1"/>
          <p:nvPr/>
        </p:nvSpPr>
        <p:spPr>
          <a:xfrm>
            <a:off x="7321919" y="1016952"/>
            <a:ext cx="9387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“agree”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751B223-DA84-024F-A215-6232DD124ED0}"/>
              </a:ext>
            </a:extLst>
          </p:cNvPr>
          <p:cNvSpPr txBox="1"/>
          <p:nvPr/>
        </p:nvSpPr>
        <p:spPr>
          <a:xfrm>
            <a:off x="8472808" y="1738981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...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565AF29-6C97-0FB1-7305-3FC56F117EB2}"/>
              </a:ext>
            </a:extLst>
          </p:cNvPr>
          <p:cNvSpPr txBox="1"/>
          <p:nvPr/>
        </p:nvSpPr>
        <p:spPr>
          <a:xfrm>
            <a:off x="7241407" y="424777"/>
            <a:ext cx="1344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Knowledge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676E3E4-6F54-3237-4ED5-F9C450165CA3}"/>
              </a:ext>
            </a:extLst>
          </p:cNvPr>
          <p:cNvSpPr txBox="1"/>
          <p:nvPr/>
        </p:nvSpPr>
        <p:spPr>
          <a:xfrm>
            <a:off x="7678434" y="1473321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“Hi Bob!”</a:t>
            </a: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36C7BFB9-0478-373F-15D2-1DFAC977C8F9}"/>
              </a:ext>
            </a:extLst>
          </p:cNvPr>
          <p:cNvSpPr/>
          <p:nvPr/>
        </p:nvSpPr>
        <p:spPr>
          <a:xfrm>
            <a:off x="5906849" y="3224684"/>
            <a:ext cx="1267026" cy="3505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Bob sucks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A3A3C09-CEB1-4B85-17C4-DE6DA6CBA669}"/>
              </a:ext>
            </a:extLst>
          </p:cNvPr>
          <p:cNvSpPr txBox="1"/>
          <p:nvPr/>
        </p:nvSpPr>
        <p:spPr>
          <a:xfrm>
            <a:off x="6467981" y="1620440"/>
            <a:ext cx="9691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“sucks”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E400BAE-A495-65E2-D38F-B12387A74F46}"/>
              </a:ext>
            </a:extLst>
          </p:cNvPr>
          <p:cNvSpPr txBox="1"/>
          <p:nvPr/>
        </p:nvSpPr>
        <p:spPr>
          <a:xfrm>
            <a:off x="7678434" y="1471257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“Hi Bob!”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5446C71-A4A8-DFE6-FB9D-CC166EAC5B99}"/>
              </a:ext>
            </a:extLst>
          </p:cNvPr>
          <p:cNvSpPr txBox="1"/>
          <p:nvPr/>
        </p:nvSpPr>
        <p:spPr>
          <a:xfrm>
            <a:off x="7685162" y="4275270"/>
            <a:ext cx="455255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u="sng" dirty="0"/>
              <a:t>Attacker can: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Learn sent messages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Derive new terms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Deliver known messages </a:t>
            </a:r>
          </a:p>
        </p:txBody>
      </p:sp>
    </p:spTree>
    <p:extLst>
      <p:ext uri="{BB962C8B-B14F-4D97-AF65-F5344CB8AC3E}">
        <p14:creationId xmlns:p14="http://schemas.microsoft.com/office/powerpoint/2010/main" val="875633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961 0.03334 " pathEditMode="relative" ptsTypes="AA">
                                      <p:cBhvr>
                                        <p:cTn id="14" dur="2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0"/>
                            </p:stCondLst>
                            <p:childTnLst>
                              <p:par>
                                <p:cTn id="1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25E-6 4.81481E-6 L -0.17578 0.25949 " pathEditMode="relative" rAng="0" ptsTypes="AA">
                                      <p:cBhvr>
                                        <p:cTn id="35" dur="2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789" y="12963"/>
                                    </p:animMotion>
                                  </p:childTnLst>
                                </p:cTn>
                              </p:par>
                              <p:par>
                                <p:cTn id="36" presetID="0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-4.44444E-6 L -0.03372 0.23241 " pathEditMode="relative" rAng="0" ptsTypes="AA">
                                      <p:cBhvr>
                                        <p:cTn id="37" dur="2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30" y="118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000"/>
                            </p:stCondLst>
                            <p:childTnLst>
                              <p:par>
                                <p:cTn id="39" presetID="1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0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0976 -0.02083 " pathEditMode="relative" ptsTypes="AA">
                                      <p:cBhvr>
                                        <p:cTn id="53" dur="2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35" grpId="0" animBg="1"/>
      <p:bldP spid="35" grpId="1" animBg="1"/>
      <p:bldP spid="35" grpId="2" animBg="1"/>
      <p:bldP spid="42" grpId="0"/>
      <p:bldP spid="43" grpId="0" animBg="1"/>
      <p:bldP spid="43" grpId="1" animBg="1"/>
      <p:bldP spid="52" grpId="0"/>
      <p:bldP spid="52" grpId="1"/>
      <p:bldP spid="52" grpId="2"/>
      <p:bldP spid="55" grpId="0"/>
      <p:bldP spid="55" grpId="1"/>
      <p:bldP spid="55" grpId="2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A0BB0-A617-3B6C-5C54-56CD042E5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891" y="381332"/>
            <a:ext cx="11661913" cy="1325563"/>
          </a:xfrm>
        </p:spPr>
        <p:txBody>
          <a:bodyPr/>
          <a:lstStyle/>
          <a:p>
            <a:r>
              <a:rPr lang="en-US" dirty="0"/>
              <a:t>Putting it all together: adversarial reactive protocols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386F649-2744-3353-81FF-E47F1BF2521C}"/>
                  </a:ext>
                </a:extLst>
              </p:cNvPr>
              <p:cNvSpPr txBox="1"/>
              <p:nvPr/>
            </p:nvSpPr>
            <p:spPr>
              <a:xfrm>
                <a:off x="838200" y="1953523"/>
                <a:ext cx="1045395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System state = Knowledge (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𝜅</m:t>
                    </m:r>
                  </m:oMath>
                </a14:m>
                <a:r>
                  <a:rPr lang="en-US" sz="2400" dirty="0"/>
                  <a:t>)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Incoming messages 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400" dirty="0"/>
                  <a:t>)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Protocol state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386F649-2744-3353-81FF-E47F1BF252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953523"/>
                <a:ext cx="10453952" cy="461665"/>
              </a:xfrm>
              <a:prstGeom prst="rect">
                <a:avLst/>
              </a:prstGeom>
              <a:blipFill>
                <a:blip r:embed="rId2"/>
                <a:stretch>
                  <a:fillRect l="-972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AF6130D-2179-905C-FEBE-085762311FAF}"/>
                  </a:ext>
                </a:extLst>
              </p:cNvPr>
              <p:cNvSpPr txBox="1"/>
              <p:nvPr/>
            </p:nvSpPr>
            <p:spPr>
              <a:xfrm>
                <a:off x="5611030" y="4183228"/>
                <a:ext cx="5083956" cy="5035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𝜅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groupChr>
                        <m:groupChrPr>
                          <m:chr m:val="→"/>
                          <m:vertJc m:val="bot"/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𝑐h𝑎𝑛𝑛𝑒𝑙</m:t>
                          </m:r>
                        </m:e>
                      </m:groupCh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∷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𝜅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’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AF6130D-2179-905C-FEBE-085762311F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1030" y="4183228"/>
                <a:ext cx="5083956" cy="503599"/>
              </a:xfrm>
              <a:prstGeom prst="rect">
                <a:avLst/>
              </a:prstGeom>
              <a:blipFill>
                <a:blip r:embed="rId3"/>
                <a:stretch>
                  <a:fillRect l="-998" t="-2439" b="-268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28F5DDA-6408-450E-ED04-D3902138A042}"/>
                  </a:ext>
                </a:extLst>
              </p:cNvPr>
              <p:cNvSpPr txBox="1"/>
              <p:nvPr/>
            </p:nvSpPr>
            <p:spPr>
              <a:xfrm>
                <a:off x="5554630" y="3691033"/>
                <a:ext cx="5208883" cy="5559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𝜅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groupChr>
                        <m:groupChrPr>
                          <m:chr m:val="→"/>
                          <m:vertJc m:val="bot"/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    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    </m:t>
                          </m:r>
                        </m:e>
                      </m:groupCh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𝜅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’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28F5DDA-6408-450E-ED04-D3902138A0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4630" y="3691033"/>
                <a:ext cx="5208883" cy="555921"/>
              </a:xfrm>
              <a:prstGeom prst="rect">
                <a:avLst/>
              </a:prstGeom>
              <a:blipFill>
                <a:blip r:embed="rId4"/>
                <a:stretch>
                  <a:fillRect l="-243" t="-8889" b="-1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78E6C60-A566-934F-597A-BA5D06FE93F5}"/>
                  </a:ext>
                </a:extLst>
              </p:cNvPr>
              <p:cNvSpPr txBox="1"/>
              <p:nvPr/>
            </p:nvSpPr>
            <p:spPr>
              <a:xfrm>
                <a:off x="5611030" y="5030960"/>
                <a:ext cx="5970737" cy="5420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𝜅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groupChr>
                        <m:groupChrPr>
                          <m:chr m:val="→"/>
                          <m:vertJc m:val="bot"/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𝑠𝑒𝑛𝑑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 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groupCh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𝜅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↦∪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𝜅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78E6C60-A566-934F-597A-BA5D06FE93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1030" y="5030960"/>
                <a:ext cx="5970737" cy="542008"/>
              </a:xfrm>
              <a:prstGeom prst="rect">
                <a:avLst/>
              </a:prstGeom>
              <a:blipFill>
                <a:blip r:embed="rId5"/>
                <a:stretch>
                  <a:fillRect l="-636" t="-6977" b="-23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E30027B-41B5-8245-1066-FC77263BBB8B}"/>
                  </a:ext>
                </a:extLst>
              </p:cNvPr>
              <p:cNvSpPr txBox="1"/>
              <p:nvPr/>
            </p:nvSpPr>
            <p:spPr>
              <a:xfrm>
                <a:off x="5610645" y="5498321"/>
                <a:ext cx="6056145" cy="60670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𝜅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groupChr>
                        <m:groupChrPr>
                          <m:chr m:val="→"/>
                          <m:vertJc m:val="bot"/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sty m:val="p"/>
                              <m:brk m:alnAt="2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derive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bar>
                                <m:barPr>
                                  <m:pos m:val="top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i</m:t>
                                  </m:r>
                                </m:e>
                              </m:bar>
                            </m:e>
                          </m:d>
                        </m:e>
                      </m:groupCh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𝜅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bar>
                                    <m:barPr>
                                      <m:pos m:val="top"/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bar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ba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d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∷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𝜅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E30027B-41B5-8245-1066-FC77263BB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0645" y="5498321"/>
                <a:ext cx="6056145" cy="606705"/>
              </a:xfrm>
              <a:prstGeom prst="rect">
                <a:avLst/>
              </a:prstGeom>
              <a:blipFill>
                <a:blip r:embed="rId6"/>
                <a:stretch>
                  <a:fillRect l="-628" b="-204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F8E1B002-856C-648C-2914-CE162093AAA0}"/>
              </a:ext>
            </a:extLst>
          </p:cNvPr>
          <p:cNvSpPr txBox="1"/>
          <p:nvPr/>
        </p:nvSpPr>
        <p:spPr>
          <a:xfrm>
            <a:off x="860927" y="3730796"/>
            <a:ext cx="39515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Protocol internal transitions: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9402FEB-3AC4-050B-BA7C-7A8A85859B3A}"/>
              </a:ext>
            </a:extLst>
          </p:cNvPr>
          <p:cNvSpPr txBox="1"/>
          <p:nvPr/>
        </p:nvSpPr>
        <p:spPr>
          <a:xfrm>
            <a:off x="860927" y="4216835"/>
            <a:ext cx="44103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Protocol observable transitions: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810830-991A-185F-2338-36E7FD295F24}"/>
              </a:ext>
            </a:extLst>
          </p:cNvPr>
          <p:cNvSpPr txBox="1"/>
          <p:nvPr/>
        </p:nvSpPr>
        <p:spPr>
          <a:xfrm>
            <a:off x="860927" y="5036656"/>
            <a:ext cx="35586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Adversary send message: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0E5683-96D3-A430-9A8F-D67BA2B73642}"/>
              </a:ext>
            </a:extLst>
          </p:cNvPr>
          <p:cNvSpPr txBox="1"/>
          <p:nvPr/>
        </p:nvSpPr>
        <p:spPr>
          <a:xfrm>
            <a:off x="860927" y="5509627"/>
            <a:ext cx="37596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Adversary derive new term: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46ABAEB-4888-EDCC-ECBF-9DA146962C6D}"/>
              </a:ext>
            </a:extLst>
          </p:cNvPr>
          <p:cNvSpPr txBox="1"/>
          <p:nvPr/>
        </p:nvSpPr>
        <p:spPr>
          <a:xfrm>
            <a:off x="4465246" y="2907027"/>
            <a:ext cx="31372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u="sng" dirty="0"/>
              <a:t>Concrete Semantics: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37C04C6-4A16-3EC5-7F5E-2D82EBCD0AFD}"/>
              </a:ext>
            </a:extLst>
          </p:cNvPr>
          <p:cNvSpPr/>
          <p:nvPr/>
        </p:nvSpPr>
        <p:spPr>
          <a:xfrm>
            <a:off x="718907" y="2887800"/>
            <a:ext cx="10947883" cy="3330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91AE76C-A1AC-0907-F998-C23F360E85BC}"/>
              </a:ext>
            </a:extLst>
          </p:cNvPr>
          <p:cNvCxnSpPr>
            <a:cxnSpLocks/>
          </p:cNvCxnSpPr>
          <p:nvPr/>
        </p:nvCxnSpPr>
        <p:spPr>
          <a:xfrm flipH="1">
            <a:off x="5931578" y="3506122"/>
            <a:ext cx="790839" cy="3465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D2E49DE-D1D1-E48A-DC99-34E6F0386E98}"/>
              </a:ext>
            </a:extLst>
          </p:cNvPr>
          <p:cNvSpPr txBox="1"/>
          <p:nvPr/>
        </p:nvSpPr>
        <p:spPr>
          <a:xfrm>
            <a:off x="6722417" y="3332495"/>
            <a:ext cx="4360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Adversary (term constructors/destructors)</a:t>
            </a:r>
          </a:p>
        </p:txBody>
      </p:sp>
    </p:spTree>
    <p:extLst>
      <p:ext uri="{BB962C8B-B14F-4D97-AF65-F5344CB8AC3E}">
        <p14:creationId xmlns:p14="http://schemas.microsoft.com/office/powerpoint/2010/main" val="2051318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/>
      <p:bldP spid="11" grpId="0"/>
      <p:bldP spid="13" grpId="0"/>
      <p:bldP spid="14" grpId="0"/>
      <p:bldP spid="15" grpId="0"/>
      <p:bldP spid="16" grpId="0"/>
      <p:bldP spid="17" grpId="0"/>
      <p:bldP spid="18" grpId="0" animBg="1"/>
      <p:bldP spid="2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F4A69-9F57-8D1D-FF8D-82541BCFA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A1C47C-12A4-6687-BB57-086133EF6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Roadmap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058A17-6329-151C-C56A-380A7471C9C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838200" y="2683347"/>
            <a:ext cx="3774790" cy="187149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FB7F5B2-0B0E-430E-A327-22587F07D9EC}"/>
              </a:ext>
            </a:extLst>
          </p:cNvPr>
          <p:cNvSpPr txBox="1"/>
          <p:nvPr/>
        </p:nvSpPr>
        <p:spPr>
          <a:xfrm>
            <a:off x="512807" y="4868561"/>
            <a:ext cx="46070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2">
                    <a:lumMod val="75000"/>
                  </a:schemeClr>
                </a:solidFill>
              </a:rPr>
              <a:t>Modeling Adversaries &amp; Protocols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0A5B896-E718-9C2E-2D0A-5F8478F2D70D}"/>
              </a:ext>
            </a:extLst>
          </p:cNvPr>
          <p:cNvGrpSpPr/>
          <p:nvPr/>
        </p:nvGrpSpPr>
        <p:grpSpPr>
          <a:xfrm>
            <a:off x="6660292" y="3150973"/>
            <a:ext cx="4306330" cy="809368"/>
            <a:chOff x="6660292" y="3150973"/>
            <a:chExt cx="4306330" cy="80936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C5969CE-1226-2E75-5477-AF3554D14E25}"/>
                    </a:ext>
                  </a:extLst>
                </p:cNvPr>
                <p:cNvSpPr txBox="1"/>
                <p:nvPr/>
              </p:nvSpPr>
              <p:spPr>
                <a:xfrm>
                  <a:off x="6824394" y="3309396"/>
                  <a:ext cx="4051943" cy="492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∷</m:t>
                        </m:r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 ∘| </m:t>
                        </m:r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𝜅</m:t>
                            </m:r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3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en-US" sz="3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C5969CE-1226-2E75-5477-AF3554D14E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4394" y="3309396"/>
                  <a:ext cx="4051943" cy="492443"/>
                </a:xfrm>
                <a:prstGeom prst="rect">
                  <a:avLst/>
                </a:prstGeom>
                <a:blipFill>
                  <a:blip r:embed="rId3"/>
                  <a:stretch>
                    <a:fillRect l="-1875" t="-7500" b="-3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5B027ED-C884-1200-5BAD-E942E04FEC4F}"/>
                </a:ext>
              </a:extLst>
            </p:cNvPr>
            <p:cNvSpPr/>
            <p:nvPr/>
          </p:nvSpPr>
          <p:spPr>
            <a:xfrm>
              <a:off x="6660292" y="3150973"/>
              <a:ext cx="4306330" cy="80936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259F59-D4C0-0276-0FC5-DBA9CE8F6304}"/>
              </a:ext>
            </a:extLst>
          </p:cNvPr>
          <p:cNvSpPr txBox="1"/>
          <p:nvPr/>
        </p:nvSpPr>
        <p:spPr>
          <a:xfrm>
            <a:off x="7394229" y="4868561"/>
            <a:ext cx="29122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Collected Properties</a:t>
            </a:r>
          </a:p>
        </p:txBody>
      </p:sp>
    </p:spTree>
    <p:extLst>
      <p:ext uri="{BB962C8B-B14F-4D97-AF65-F5344CB8AC3E}">
        <p14:creationId xmlns:p14="http://schemas.microsoft.com/office/powerpoint/2010/main" val="34647914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A2510-50DF-A31B-9ECF-ED3A8F6F9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Properties we would like to verify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8545A-DE8A-603E-5FE2-2ECAE360D8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Secrecy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Observational equivalence</a:t>
            </a:r>
          </a:p>
        </p:txBody>
      </p:sp>
      <p:pic>
        <p:nvPicPr>
          <p:cNvPr id="4" name="Graphic 3" descr="Devil face outline with solid fill">
            <a:extLst>
              <a:ext uri="{FF2B5EF4-FFF2-40B4-BE49-F238E27FC236}">
                <a16:creationId xmlns:a16="http://schemas.microsoft.com/office/drawing/2014/main" id="{9DD0302B-7C13-DDC4-0BA0-303DB312AE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0322" y="2500008"/>
            <a:ext cx="709032" cy="70903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Cloud Callout 4">
                <a:extLst>
                  <a:ext uri="{FF2B5EF4-FFF2-40B4-BE49-F238E27FC236}">
                    <a16:creationId xmlns:a16="http://schemas.microsoft.com/office/drawing/2014/main" id="{BE9C9935-B01E-3B8A-5F90-ABC6A5DA14D2}"/>
                  </a:ext>
                </a:extLst>
              </p:cNvPr>
              <p:cNvSpPr/>
              <p:nvPr/>
            </p:nvSpPr>
            <p:spPr>
              <a:xfrm>
                <a:off x="7592307" y="1607664"/>
                <a:ext cx="1986455" cy="1065782"/>
              </a:xfrm>
              <a:prstGeom prst="cloudCallout">
                <a:avLst>
                  <a:gd name="adj1" fmla="val -53035"/>
                  <a:gd name="adj2" fmla="val 47708"/>
                </a:avLst>
              </a:prstGeom>
              <a:solidFill>
                <a:srgbClr val="C00000"/>
              </a:solidFill>
              <a:ln>
                <a:solidFill>
                  <a:srgbClr val="7F000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Knowledge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𝜅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>
          <p:sp>
            <p:nvSpPr>
              <p:cNvPr id="5" name="Cloud Callout 4">
                <a:extLst>
                  <a:ext uri="{FF2B5EF4-FFF2-40B4-BE49-F238E27FC236}">
                    <a16:creationId xmlns:a16="http://schemas.microsoft.com/office/drawing/2014/main" id="{BE9C9935-B01E-3B8A-5F90-ABC6A5DA14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2307" y="1607664"/>
                <a:ext cx="1986455" cy="1065782"/>
              </a:xfrm>
              <a:prstGeom prst="cloudCallout">
                <a:avLst>
                  <a:gd name="adj1" fmla="val -53035"/>
                  <a:gd name="adj2" fmla="val 47708"/>
                </a:avLst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rgbClr val="7F000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98A0B97-0839-CC87-D523-1DDF5F312082}"/>
                  </a:ext>
                </a:extLst>
              </p:cNvPr>
              <p:cNvSpPr txBox="1"/>
              <p:nvPr/>
            </p:nvSpPr>
            <p:spPr>
              <a:xfrm>
                <a:off x="4326851" y="2336047"/>
                <a:ext cx="181940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𝑚𝑒𝑠𝑠𝑎𝑔𝑒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∉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𝜅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98A0B97-0839-CC87-D523-1DDF5F3120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6851" y="2336047"/>
                <a:ext cx="1819409" cy="369332"/>
              </a:xfrm>
              <a:prstGeom prst="rect">
                <a:avLst/>
              </a:prstGeom>
              <a:blipFill>
                <a:blip r:embed="rId5"/>
                <a:stretch>
                  <a:fillRect l="-5556" b="-193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C7CEE5CA-D7B1-6B4B-DD9B-9D0754450EB4}"/>
              </a:ext>
            </a:extLst>
          </p:cNvPr>
          <p:cNvGrpSpPr/>
          <p:nvPr/>
        </p:nvGrpSpPr>
        <p:grpSpPr>
          <a:xfrm>
            <a:off x="2113861" y="4099773"/>
            <a:ext cx="2678979" cy="977028"/>
            <a:chOff x="5771338" y="4446310"/>
            <a:chExt cx="2678979" cy="977028"/>
          </a:xfrm>
        </p:grpSpPr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A0241349-F54D-47C5-33A2-754FD159F3F8}"/>
                </a:ext>
              </a:extLst>
            </p:cNvPr>
            <p:cNvSpPr/>
            <p:nvPr/>
          </p:nvSpPr>
          <p:spPr>
            <a:xfrm>
              <a:off x="7118143" y="4657948"/>
              <a:ext cx="1243366" cy="592388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Protocol 1</a:t>
              </a:r>
            </a:p>
          </p:txBody>
        </p:sp>
        <p:pic>
          <p:nvPicPr>
            <p:cNvPr id="11" name="Graphic 10" descr="Devil face outline with solid fill">
              <a:extLst>
                <a:ext uri="{FF2B5EF4-FFF2-40B4-BE49-F238E27FC236}">
                  <a16:creationId xmlns:a16="http://schemas.microsoft.com/office/drawing/2014/main" id="{C3F4EB00-9591-1662-4E43-54EF1745CF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865514" y="4663044"/>
              <a:ext cx="709032" cy="709032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D83712E-4EE2-521B-CF0D-FE217DEADF59}"/>
                    </a:ext>
                  </a:extLst>
                </p:cNvPr>
                <p:cNvSpPr txBox="1"/>
                <p:nvPr/>
              </p:nvSpPr>
              <p:spPr>
                <a:xfrm>
                  <a:off x="6553886" y="4446310"/>
                  <a:ext cx="514564" cy="92333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6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</m:oMath>
                    </m:oMathPara>
                  </a14:m>
                  <a:endParaRPr lang="en-US" sz="6000" dirty="0"/>
                </a:p>
              </p:txBody>
            </p:sp>
          </mc:Choice>
          <mc:Fallback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D83712E-4EE2-521B-CF0D-FE217DEADF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53886" y="4446310"/>
                  <a:ext cx="514564" cy="923330"/>
                </a:xfrm>
                <a:prstGeom prst="rect">
                  <a:avLst/>
                </a:prstGeom>
                <a:blipFill>
                  <a:blip r:embed="rId6"/>
                  <a:stretch>
                    <a:fillRect l="-41463" r="-41463" b="-178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BB93535-5CCC-A003-2487-32DC6D6352E9}"/>
                </a:ext>
              </a:extLst>
            </p:cNvPr>
            <p:cNvSpPr/>
            <p:nvPr/>
          </p:nvSpPr>
          <p:spPr>
            <a:xfrm>
              <a:off x="5771338" y="4500008"/>
              <a:ext cx="2678979" cy="923330"/>
            </a:xfrm>
            <a:prstGeom prst="rect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722E064-A932-A6F5-F1E2-245E967BFB57}"/>
              </a:ext>
            </a:extLst>
          </p:cNvPr>
          <p:cNvGrpSpPr/>
          <p:nvPr/>
        </p:nvGrpSpPr>
        <p:grpSpPr>
          <a:xfrm>
            <a:off x="7845758" y="4095978"/>
            <a:ext cx="2678979" cy="977028"/>
            <a:chOff x="5771338" y="4446310"/>
            <a:chExt cx="2678979" cy="977028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FEB2FFEE-07C5-E432-9EA0-DEBA19ABCC0F}"/>
                </a:ext>
              </a:extLst>
            </p:cNvPr>
            <p:cNvSpPr/>
            <p:nvPr/>
          </p:nvSpPr>
          <p:spPr>
            <a:xfrm>
              <a:off x="7118143" y="4657948"/>
              <a:ext cx="1243366" cy="592388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Protocol 2</a:t>
              </a:r>
            </a:p>
          </p:txBody>
        </p:sp>
        <p:pic>
          <p:nvPicPr>
            <p:cNvPr id="17" name="Graphic 16" descr="Devil face outline with solid fill">
              <a:extLst>
                <a:ext uri="{FF2B5EF4-FFF2-40B4-BE49-F238E27FC236}">
                  <a16:creationId xmlns:a16="http://schemas.microsoft.com/office/drawing/2014/main" id="{E4844327-15A9-C38E-6718-A95AFA0CE1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865514" y="4663044"/>
              <a:ext cx="709032" cy="709032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FC3C53B4-51BD-3AF0-27B3-FA5161B64ACD}"/>
                    </a:ext>
                  </a:extLst>
                </p:cNvPr>
                <p:cNvSpPr txBox="1"/>
                <p:nvPr/>
              </p:nvSpPr>
              <p:spPr>
                <a:xfrm>
                  <a:off x="6553886" y="4446310"/>
                  <a:ext cx="514564" cy="92333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6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</m:oMath>
                    </m:oMathPara>
                  </a14:m>
                  <a:endParaRPr lang="en-US" sz="6000" dirty="0"/>
                </a:p>
              </p:txBody>
            </p:sp>
          </mc:Choice>
          <mc:Fallback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FC3C53B4-51BD-3AF0-27B3-FA5161B64A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53886" y="4446310"/>
                  <a:ext cx="514564" cy="923330"/>
                </a:xfrm>
                <a:prstGeom prst="rect">
                  <a:avLst/>
                </a:prstGeom>
                <a:blipFill>
                  <a:blip r:embed="rId7"/>
                  <a:stretch>
                    <a:fillRect l="-41463" r="-41463" b="-1621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29FA9D-BEA5-09CF-6423-537ECBC700C1}"/>
                </a:ext>
              </a:extLst>
            </p:cNvPr>
            <p:cNvSpPr/>
            <p:nvPr/>
          </p:nvSpPr>
          <p:spPr>
            <a:xfrm>
              <a:off x="5771338" y="4500008"/>
              <a:ext cx="2678979" cy="923330"/>
            </a:xfrm>
            <a:prstGeom prst="rect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" name="Horizontal Scroll 24">
            <a:extLst>
              <a:ext uri="{FF2B5EF4-FFF2-40B4-BE49-F238E27FC236}">
                <a16:creationId xmlns:a16="http://schemas.microsoft.com/office/drawing/2014/main" id="{44A1F591-4CE1-EA1C-C91A-270FD92707E2}"/>
              </a:ext>
            </a:extLst>
          </p:cNvPr>
          <p:cNvSpPr/>
          <p:nvPr/>
        </p:nvSpPr>
        <p:spPr>
          <a:xfrm>
            <a:off x="963025" y="5772771"/>
            <a:ext cx="2041706" cy="808383"/>
          </a:xfrm>
          <a:prstGeom prst="horizontalScroll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Observations X</a:t>
            </a:r>
          </a:p>
        </p:txBody>
      </p:sp>
      <p:sp>
        <p:nvSpPr>
          <p:cNvPr id="26" name="Horizontal Scroll 25">
            <a:extLst>
              <a:ext uri="{FF2B5EF4-FFF2-40B4-BE49-F238E27FC236}">
                <a16:creationId xmlns:a16="http://schemas.microsoft.com/office/drawing/2014/main" id="{AD982AAD-13C8-B4AE-F63C-DEEC1DF3AEAA}"/>
              </a:ext>
            </a:extLst>
          </p:cNvPr>
          <p:cNvSpPr/>
          <p:nvPr/>
        </p:nvSpPr>
        <p:spPr>
          <a:xfrm>
            <a:off x="6939278" y="5771431"/>
            <a:ext cx="2041706" cy="808383"/>
          </a:xfrm>
          <a:prstGeom prst="horizontalScroll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Observations X</a:t>
            </a:r>
          </a:p>
        </p:txBody>
      </p:sp>
      <p:sp>
        <p:nvSpPr>
          <p:cNvPr id="27" name="Horizontal Scroll 26">
            <a:extLst>
              <a:ext uri="{FF2B5EF4-FFF2-40B4-BE49-F238E27FC236}">
                <a16:creationId xmlns:a16="http://schemas.microsoft.com/office/drawing/2014/main" id="{CD882B57-58C4-7432-2D0C-AB79D1BD68E2}"/>
              </a:ext>
            </a:extLst>
          </p:cNvPr>
          <p:cNvSpPr/>
          <p:nvPr/>
        </p:nvSpPr>
        <p:spPr>
          <a:xfrm>
            <a:off x="3460666" y="5764372"/>
            <a:ext cx="2041706" cy="808383"/>
          </a:xfrm>
          <a:prstGeom prst="horizontalScroll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Observations Y</a:t>
            </a:r>
          </a:p>
        </p:txBody>
      </p:sp>
      <p:sp>
        <p:nvSpPr>
          <p:cNvPr id="28" name="Horizontal Scroll 27">
            <a:extLst>
              <a:ext uri="{FF2B5EF4-FFF2-40B4-BE49-F238E27FC236}">
                <a16:creationId xmlns:a16="http://schemas.microsoft.com/office/drawing/2014/main" id="{0A9DB85C-B536-66EA-C61B-80A1732E5B72}"/>
              </a:ext>
            </a:extLst>
          </p:cNvPr>
          <p:cNvSpPr/>
          <p:nvPr/>
        </p:nvSpPr>
        <p:spPr>
          <a:xfrm>
            <a:off x="9436919" y="5710808"/>
            <a:ext cx="2041706" cy="808383"/>
          </a:xfrm>
          <a:prstGeom prst="horizontalScroll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Observations Y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2DDB56D-9E51-671C-A459-DE6D1EAC0503}"/>
              </a:ext>
            </a:extLst>
          </p:cNvPr>
          <p:cNvCxnSpPr>
            <a:endCxn id="25" idx="0"/>
          </p:cNvCxnSpPr>
          <p:nvPr/>
        </p:nvCxnSpPr>
        <p:spPr>
          <a:xfrm flipH="1">
            <a:off x="1983878" y="5061528"/>
            <a:ext cx="933191" cy="81229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7AAA619-8B7D-67DB-8CF2-90613035AEDC}"/>
              </a:ext>
            </a:extLst>
          </p:cNvPr>
          <p:cNvCxnSpPr>
            <a:cxnSpLocks/>
            <a:endCxn id="27" idx="0"/>
          </p:cNvCxnSpPr>
          <p:nvPr/>
        </p:nvCxnSpPr>
        <p:spPr>
          <a:xfrm>
            <a:off x="3937922" y="5076801"/>
            <a:ext cx="543597" cy="78861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D9C3746-71A8-4A38-ACDD-FA43F9AD2940}"/>
              </a:ext>
            </a:extLst>
          </p:cNvPr>
          <p:cNvCxnSpPr/>
          <p:nvPr/>
        </p:nvCxnSpPr>
        <p:spPr>
          <a:xfrm flipH="1">
            <a:off x="7983113" y="5073006"/>
            <a:ext cx="933191" cy="81229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0F996A3F-6DC4-5148-E7E7-0568318B5933}"/>
              </a:ext>
            </a:extLst>
          </p:cNvPr>
          <p:cNvCxnSpPr>
            <a:cxnSpLocks/>
            <a:endCxn id="28" idx="0"/>
          </p:cNvCxnSpPr>
          <p:nvPr/>
        </p:nvCxnSpPr>
        <p:spPr>
          <a:xfrm>
            <a:off x="9937157" y="5088279"/>
            <a:ext cx="520615" cy="72357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3059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EA5BE-A41D-2975-BCE1-A790C4E43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Collected properties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64A7C4F-477B-5008-C4E0-3057680E071E}"/>
                  </a:ext>
                </a:extLst>
              </p:cNvPr>
              <p:cNvSpPr txBox="1"/>
              <p:nvPr/>
            </p:nvSpPr>
            <p:spPr>
              <a:xfrm>
                <a:off x="6305410" y="2333212"/>
                <a:ext cx="4051943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∷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 ∘| 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𝜅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64A7C4F-477B-5008-C4E0-3057680E07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5410" y="2333212"/>
                <a:ext cx="4051943" cy="492443"/>
              </a:xfrm>
              <a:prstGeom prst="rect">
                <a:avLst/>
              </a:prstGeom>
              <a:blipFill>
                <a:blip r:embed="rId3"/>
                <a:stretch>
                  <a:fillRect l="-1875" t="-7500" b="-3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C0D1FAC-91C8-0364-9978-6FCD8C6C5B29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714929" y="2013853"/>
            <a:ext cx="792144" cy="4834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B1F46BA-6865-4394-CBCE-7E6A73CD393B}"/>
              </a:ext>
            </a:extLst>
          </p:cNvPr>
          <p:cNvSpPr txBox="1"/>
          <p:nvPr/>
        </p:nvSpPr>
        <p:spPr>
          <a:xfrm>
            <a:off x="6645277" y="1367522"/>
            <a:ext cx="21393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Observable effects</a:t>
            </a:r>
          </a:p>
          <a:p>
            <a:r>
              <a:rPr lang="en-US" dirty="0">
                <a:solidFill>
                  <a:schemeClr val="accent1"/>
                </a:solidFill>
              </a:rPr>
              <a:t>&amp; adversary actions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232BBAA-D195-FB59-B1A8-9F2F4CE5AF95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8996696" y="1711691"/>
            <a:ext cx="1360657" cy="7855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4F729B1-8956-A8A1-75BD-8FC443B6952D}"/>
              </a:ext>
            </a:extLst>
          </p:cNvPr>
          <p:cNvSpPr txBox="1"/>
          <p:nvPr/>
        </p:nvSpPr>
        <p:spPr>
          <a:xfrm>
            <a:off x="9203543" y="1342359"/>
            <a:ext cx="2307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Adversary Knowledge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3DE8210-8AB5-FC9F-AF1C-DAFDEFFC1724}"/>
                  </a:ext>
                </a:extLst>
              </p:cNvPr>
              <p:cNvSpPr txBox="1"/>
              <p:nvPr/>
            </p:nvSpPr>
            <p:spPr>
              <a:xfrm>
                <a:off x="1419808" y="3631842"/>
                <a:ext cx="887973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/>
                  <a:t>Secrecy:             if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𝜅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,_,_</m:t>
                        </m:r>
                      </m:e>
                    </m:d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3200" dirty="0"/>
                  <a:t>, then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𝑚𝑒𝑠𝑠𝑎𝑔𝑒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∉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𝜅</m:t>
                    </m:r>
                  </m:oMath>
                </a14:m>
                <a:endParaRPr lang="en-US" sz="32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3DE8210-8AB5-FC9F-AF1C-DAFDEFFC17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9808" y="3631842"/>
                <a:ext cx="8879739" cy="584775"/>
              </a:xfrm>
              <a:prstGeom prst="rect">
                <a:avLst/>
              </a:prstGeom>
              <a:blipFill>
                <a:blip r:embed="rId4"/>
                <a:stretch>
                  <a:fillRect l="-1712" t="-14894" b="-319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E5E91E4-98D6-B6B0-6CCB-7090871B4337}"/>
                  </a:ext>
                </a:extLst>
              </p:cNvPr>
              <p:cNvSpPr txBox="1"/>
              <p:nvPr/>
            </p:nvSpPr>
            <p:spPr>
              <a:xfrm>
                <a:off x="1377679" y="4639193"/>
                <a:ext cx="9711056" cy="255454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/>
                  <a:t>Equivalence:     for every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3200" dirty="0"/>
                  <a:t> such that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,_,_</m:t>
                        </m:r>
                      </m:e>
                    </m:d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3200" dirty="0"/>
                  <a:t>,</a:t>
                </a:r>
              </a:p>
              <a:p>
                <a:r>
                  <a:rPr lang="en-US" sz="3200" dirty="0"/>
                  <a:t>                                    there exists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3200" dirty="0"/>
                  <a:t>such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3200" dirty="0"/>
              </a:p>
              <a:p>
                <a:r>
                  <a:rPr lang="en-US" sz="3200" dirty="0"/>
                  <a:t>                                    and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,_,_</m:t>
                        </m:r>
                      </m:e>
                    </m:d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3200" dirty="0"/>
                  <a:t>,</a:t>
                </a:r>
              </a:p>
              <a:p>
                <a:r>
                  <a:rPr lang="en-US" sz="3200" dirty="0"/>
                  <a:t>                                and vice versa</a:t>
                </a:r>
              </a:p>
              <a:p>
                <a:endParaRPr lang="en-US" sz="32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E5E91E4-98D6-B6B0-6CCB-7090871B43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7679" y="4639193"/>
                <a:ext cx="9711056" cy="2554545"/>
              </a:xfrm>
              <a:prstGeom prst="rect">
                <a:avLst/>
              </a:prstGeom>
              <a:blipFill>
                <a:blip r:embed="rId5"/>
                <a:stretch>
                  <a:fillRect l="-1567" t="-29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Graphic 19" descr="Checkmark with solid fill">
            <a:extLst>
              <a:ext uri="{FF2B5EF4-FFF2-40B4-BE49-F238E27FC236}">
                <a16:creationId xmlns:a16="http://schemas.microsoft.com/office/drawing/2014/main" id="{DAF05A9C-3E94-AAD1-9A49-212DBA7F18F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2904" y="3631841"/>
            <a:ext cx="584775" cy="584775"/>
          </a:xfrm>
          <a:prstGeom prst="rect">
            <a:avLst/>
          </a:prstGeom>
        </p:spPr>
      </p:pic>
      <p:pic>
        <p:nvPicPr>
          <p:cNvPr id="21" name="Graphic 20" descr="Checkmark with solid fill">
            <a:extLst>
              <a:ext uri="{FF2B5EF4-FFF2-40B4-BE49-F238E27FC236}">
                <a16:creationId xmlns:a16="http://schemas.microsoft.com/office/drawing/2014/main" id="{C5931577-B6C9-6A11-786B-AE498C71CAC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2904" y="4639193"/>
            <a:ext cx="584775" cy="584775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3337C8F4-CBDF-B016-99BA-7BD28124A7F8}"/>
              </a:ext>
            </a:extLst>
          </p:cNvPr>
          <p:cNvSpPr txBox="1"/>
          <p:nvPr/>
        </p:nvSpPr>
        <p:spPr>
          <a:xfrm>
            <a:off x="1085291" y="2148940"/>
            <a:ext cx="413194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0" dirty="0"/>
              <a:t>Adversarial interaction </a:t>
            </a:r>
            <a:r>
              <a:rPr lang="en-US" sz="3200" dirty="0"/>
              <a:t>properties 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AC980C8-998F-05DD-9FC1-7B60C0742539}"/>
              </a:ext>
            </a:extLst>
          </p:cNvPr>
          <p:cNvCxnSpPr>
            <a:cxnSpLocks/>
          </p:cNvCxnSpPr>
          <p:nvPr/>
        </p:nvCxnSpPr>
        <p:spPr>
          <a:xfrm flipH="1" flipV="1">
            <a:off x="9488557" y="5632174"/>
            <a:ext cx="1153191" cy="4318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AB6809D8-C89D-48CD-401C-4EA3630790C0}"/>
              </a:ext>
            </a:extLst>
          </p:cNvPr>
          <p:cNvSpPr txBox="1"/>
          <p:nvPr/>
        </p:nvSpPr>
        <p:spPr>
          <a:xfrm>
            <a:off x="9203543" y="6064002"/>
            <a:ext cx="28764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Attacker cannot distinguish what it’s learned</a:t>
            </a:r>
          </a:p>
        </p:txBody>
      </p:sp>
    </p:spTree>
    <p:extLst>
      <p:ext uri="{BB962C8B-B14F-4D97-AF65-F5344CB8AC3E}">
        <p14:creationId xmlns:p14="http://schemas.microsoft.com/office/powerpoint/2010/main" val="910755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2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C02BF-79C6-C884-DAE8-54B998BAD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Verification 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16AE4B-1699-95CC-919C-788CA05538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575854" cy="4351338"/>
          </a:xfrm>
        </p:spPr>
        <p:txBody>
          <a:bodyPr/>
          <a:lstStyle/>
          <a:p>
            <a:r>
              <a:rPr lang="en-US" dirty="0"/>
              <a:t>Attacker’s knowledge is unbounded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Learning new terms leads to deriving even more terms, so coarse abstractions quickly reach top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Manual proof burden is significant (kind of </a:t>
            </a:r>
            <a:r>
              <a:rPr lang="en-US" dirty="0" err="1"/>
              <a:t>bisimulation</a:t>
            </a:r>
            <a:r>
              <a:rPr lang="en-US" dirty="0"/>
              <a:t> relation)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EBFE6A9-E194-4EE8-1F78-BE26C98EB10A}"/>
                  </a:ext>
                </a:extLst>
              </p:cNvPr>
              <p:cNvSpPr txBox="1"/>
              <p:nvPr/>
            </p:nvSpPr>
            <p:spPr>
              <a:xfrm>
                <a:off x="7522175" y="1825625"/>
                <a:ext cx="366638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𝑒𝑛𝑐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𝑒𝑛𝑐</m:t>
                          </m:r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𝑒𝑛𝑐</m:t>
                              </m:r>
                              <m:d>
                                <m:d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…</m:t>
                                  </m:r>
                                </m:e>
                              </m:d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EBFE6A9-E194-4EE8-1F78-BE26C98EB1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2175" y="1825625"/>
                <a:ext cx="3666388" cy="430887"/>
              </a:xfrm>
              <a:prstGeom prst="rect">
                <a:avLst/>
              </a:prstGeom>
              <a:blipFill>
                <a:blip r:embed="rId2"/>
                <a:stretch>
                  <a:fillRect l="-1038"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170" name="Picture 2" descr="Lean - Microsoft Research">
            <a:extLst>
              <a:ext uri="{FF2B5EF4-FFF2-40B4-BE49-F238E27FC236}">
                <a16:creationId xmlns:a16="http://schemas.microsoft.com/office/drawing/2014/main" id="{D67EA990-79FE-5420-0922-7D8215EA26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83363" y="4601489"/>
            <a:ext cx="1872915" cy="1005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&quot;No&quot; Symbol 4">
            <a:extLst>
              <a:ext uri="{FF2B5EF4-FFF2-40B4-BE49-F238E27FC236}">
                <a16:creationId xmlns:a16="http://schemas.microsoft.com/office/drawing/2014/main" id="{33E1ECB2-1966-CBF5-D344-44E29B48BFAB}"/>
              </a:ext>
            </a:extLst>
          </p:cNvPr>
          <p:cNvSpPr/>
          <p:nvPr/>
        </p:nvSpPr>
        <p:spPr>
          <a:xfrm>
            <a:off x="8579112" y="4329082"/>
            <a:ext cx="2681416" cy="1550774"/>
          </a:xfrm>
          <a:prstGeom prst="noSmoking">
            <a:avLst>
              <a:gd name="adj" fmla="val 2933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9784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1736</TotalTime>
  <Words>479</Words>
  <Application>Microsoft Macintosh PowerPoint</Application>
  <PresentationFormat>Widescreen</PresentationFormat>
  <Paragraphs>133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Cambria Math</vt:lpstr>
      <vt:lpstr>Office Theme</vt:lpstr>
      <vt:lpstr>Towards Reasoning About Adversarial Protocol Interaction</vt:lpstr>
      <vt:lpstr>Protocols that provide security properties are hard to design correctly</vt:lpstr>
      <vt:lpstr>Protocols undergo expert review, but...</vt:lpstr>
      <vt:lpstr>Roadmap</vt:lpstr>
      <vt:lpstr>Key protocol characteristics to model</vt:lpstr>
      <vt:lpstr>Modeling cryptographic operations (UF + Axioms)</vt:lpstr>
      <vt:lpstr>Key adversary characteristics to model</vt:lpstr>
      <vt:lpstr>Modeling adversaries</vt:lpstr>
      <vt:lpstr>Putting it all together: adversarial reactive protocols</vt:lpstr>
      <vt:lpstr>Roadmap</vt:lpstr>
      <vt:lpstr>Properties we would like to verify</vt:lpstr>
      <vt:lpstr>Collected properties</vt:lpstr>
      <vt:lpstr>Verification challenges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Kirby Linvill</dc:creator>
  <cp:lastModifiedBy>Kirby Linvill</cp:lastModifiedBy>
  <cp:revision>73</cp:revision>
  <dcterms:created xsi:type="dcterms:W3CDTF">2025-12-04T15:25:40Z</dcterms:created>
  <dcterms:modified xsi:type="dcterms:W3CDTF">2025-12-05T20:22:00Z</dcterms:modified>
</cp:coreProperties>
</file>