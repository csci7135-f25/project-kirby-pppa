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7" r:id="rId4"/>
    <p:sldId id="258" r:id="rId5"/>
    <p:sldId id="268" r:id="rId6"/>
    <p:sldId id="273" r:id="rId7"/>
    <p:sldId id="259" r:id="rId8"/>
    <p:sldId id="277" r:id="rId9"/>
    <p:sldId id="262" r:id="rId10"/>
    <p:sldId id="272" r:id="rId11"/>
    <p:sldId id="270" r:id="rId12"/>
    <p:sldId id="276" r:id="rId13"/>
    <p:sldId id="271" r:id="rId14"/>
    <p:sldId id="26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3"/>
    <p:restoredTop sz="94663"/>
  </p:normalViewPr>
  <p:slideViewPr>
    <p:cSldViewPr snapToGrid="0">
      <p:cViewPr varScale="1">
        <p:scale>
          <a:sx n="120" d="100"/>
          <a:sy n="120" d="100"/>
        </p:scale>
        <p:origin x="216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DEF31-028F-6C4A-B91E-E815DD7C571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969D7-15A9-C645-9495-29D21CEF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4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 presentation + 1 minute for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969D7-15A9-C645-9495-29D21CEFFA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80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Timestamp: 1:30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969D7-15A9-C645-9495-29D21CEFFA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3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Timestamp: 6:30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969D7-15A9-C645-9495-29D21CEFFA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22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969D7-15A9-C645-9495-29D21CEFFA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31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969D7-15A9-C645-9495-29D21CEFFA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67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Timestamp: 10:00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969D7-15A9-C645-9495-29D21CEFFA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15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EA25-425E-06F9-1C1E-9007DF6E2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E9007-3529-A87C-EE90-B53ECF2CB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25586-9ED1-9828-B98C-C7D845AA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2C4C4-4AD0-F5ED-5F43-0DC4AF03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1BBEE-90A2-4550-3059-42AC79358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6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57A9-0A16-DA94-1E95-841F14C1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56F22-D66C-F84F-974C-C4BA60AD7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EBAB2-BC1A-87BF-6B81-ECB326F3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A86AA-CE5F-4341-D941-FF53D9FB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36951-ED31-2FF1-7584-893F0BF5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1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1A73-4286-AD89-8CD3-DA5CB44F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29DB4-0D74-8BBA-B5EE-7D2FC7F4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E2A2B-699D-82F4-75CE-4012DBDF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2B26E-7FE5-2142-1FF1-3A1D830C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AFBFD-B680-00FE-B9F0-1B67FFC8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3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4B3F-FBFB-FE12-5118-6F9EB99A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1853-37B3-C88B-4650-E4CEED777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635CE-AEA3-5E77-D414-083F6CA4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9FE20-B628-67C9-E71E-74C1B963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4E164-8722-3650-1E78-BD1B1C95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23788-1227-C9C2-E99A-F6B6561B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1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1304-6C6B-D8DF-EB95-A3A4BEEB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2FFC8-13C4-BC57-6CCC-57CED4401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2C756-F720-6052-B9DE-AB763B715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A4ABA-5C5C-30C4-2193-501626CDB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89ECE-2E6F-C892-ACD8-FE9F9AA42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9B745-E537-6AF0-8593-37E88590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BE357-C4E7-01F1-9D5C-BE9F7B5D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3ED6A0-F8C0-C6E2-5C3D-1B624340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B53D-01A2-B749-F8BD-30BBEFDD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EA723-0583-CCD3-F12D-8D5F83E3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0436C-B3DB-7CDD-8C43-217E714F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FFDF5-9184-BBF6-38CE-7C8E92DE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86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7824E-EC24-3A88-A766-2537EF26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3D8CD-109C-D4A2-3715-C1DEBB41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3DF19-1394-6CE8-9EF3-D250323B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9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FC26-4068-2B37-FD24-B11A24AD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811E9-531E-8079-1312-FBD12958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AF6EF-0997-4AA8-A946-348D8F740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5F364-3907-1B9C-D98B-29A289F9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7C6EB-5568-2275-4B26-111E67B5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48CB0-776A-C4D6-CCCE-0163E41F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6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F043-477B-8AD2-B7EC-653267D1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9D197-E12B-64E4-7841-CB9AC1217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53686-C65F-39E6-8543-35A7F7408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B43B7-F0DA-4DED-F649-513A75AC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E2750-FA09-9128-1362-7CD66848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EF823-6323-4D01-95A5-7A2FE142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7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54D3-5CA6-5696-216F-3E9622D7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D89E4-0665-3B2C-3F5B-BF989B759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ACCC7-6AA9-A2F6-2BB7-01447300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4717A-860E-DF71-8FDE-A8367A68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77660-D870-23AF-1CC0-F95F0BCD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3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8DA0CA-207F-48AC-E8DF-0421725BF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4CC5D-4D86-5F29-599B-DD4F15131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98609-4A7D-C036-C9E9-89C4D3D9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FACCE-291F-18F3-2A36-38BE9F72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8836-349B-12BE-FEB5-048FB795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2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6A193-BF34-DAA7-D7CA-687F078C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38A90-B7E8-E635-A1DD-12F3F5DF7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EC5CF-609B-C887-A166-59940DE25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0AC94-D332-2846-B7AF-8633478E29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BA3C-B7F9-4DC5-F116-28AD22507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F72AD-5C25-6D02-8141-EF0C06EB9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BF2A6-2B54-B446-9700-277034C3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9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.svg"/><Relationship Id="rId3" Type="http://schemas.openxmlformats.org/officeDocument/2006/relationships/image" Target="../media/image9.svg"/><Relationship Id="rId7" Type="http://schemas.openxmlformats.org/officeDocument/2006/relationships/image" Target="../media/image17.svg"/><Relationship Id="rId12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13.svg"/><Relationship Id="rId5" Type="http://schemas.openxmlformats.org/officeDocument/2006/relationships/image" Target="../media/image15.svg"/><Relationship Id="rId10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.sv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590D-F439-F21B-695E-2040D2C5B5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Towards Reasoning About Adversarial Protocol Interaction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7AEA2-BDDC-6E5B-96D0-5E761DAD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Kirby Linvill</a:t>
            </a:r>
          </a:p>
          <a:p>
            <a:r>
              <a:rPr lang="en-US" dirty="0"/>
              <a:t>December 9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33695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2406-A518-CCB8-67DA-01ADE532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that provide security properties are hard to design correctly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57C10-928F-B7C1-81F4-AD16DD4C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051" y="3076892"/>
            <a:ext cx="7177804" cy="2003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A3D8DF-CC8B-75E9-D9A8-83485359A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75865"/>
            <a:ext cx="4184851" cy="2898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8AFBD8-F6C7-50AC-6BCA-8B9B58EE9B7A}"/>
              </a:ext>
            </a:extLst>
          </p:cNvPr>
          <p:cNvSpPr txBox="1"/>
          <p:nvPr/>
        </p:nvSpPr>
        <p:spPr>
          <a:xfrm>
            <a:off x="1694474" y="5374640"/>
            <a:ext cx="13901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1978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94BD3-C327-FADA-C3AD-84081744BD77}"/>
              </a:ext>
            </a:extLst>
          </p:cNvPr>
          <p:cNvSpPr txBox="1"/>
          <p:nvPr/>
        </p:nvSpPr>
        <p:spPr>
          <a:xfrm>
            <a:off x="7916891" y="5374640"/>
            <a:ext cx="13901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1995</a:t>
            </a:r>
          </a:p>
        </p:txBody>
      </p:sp>
    </p:spTree>
    <p:extLst>
      <p:ext uri="{BB962C8B-B14F-4D97-AF65-F5344CB8AC3E}">
        <p14:creationId xmlns:p14="http://schemas.microsoft.com/office/powerpoint/2010/main" val="52533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E8C0-BC7C-4307-BD7E-D0FE7AA3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365125"/>
            <a:ext cx="11033760" cy="1325563"/>
          </a:xfrm>
        </p:spPr>
        <p:txBody>
          <a:bodyPr/>
          <a:lstStyle/>
          <a:p>
            <a:r>
              <a:rPr lang="en-US" dirty="0"/>
              <a:t>Protocols undergo expert review, but...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D31C24-7F3D-3E3B-5D80-B6BC12F5C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51" y="1441232"/>
            <a:ext cx="4917440" cy="491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Devil face outline with solid fill">
            <a:extLst>
              <a:ext uri="{FF2B5EF4-FFF2-40B4-BE49-F238E27FC236}">
                <a16:creationId xmlns:a16="http://schemas.microsoft.com/office/drawing/2014/main" id="{14B67AEB-08E1-6093-E158-F6340F45B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9795" y="2296081"/>
            <a:ext cx="1078558" cy="1078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3B1E2-8F52-C95A-5A2F-29E5E1840AF4}"/>
              </a:ext>
            </a:extLst>
          </p:cNvPr>
          <p:cNvSpPr txBox="1"/>
          <p:nvPr/>
        </p:nvSpPr>
        <p:spPr>
          <a:xfrm>
            <a:off x="7435903" y="3867705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POODLE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55922-947C-1936-FA55-F0A6D07FE27B}"/>
              </a:ext>
            </a:extLst>
          </p:cNvPr>
          <p:cNvSpPr txBox="1"/>
          <p:nvPr/>
        </p:nvSpPr>
        <p:spPr>
          <a:xfrm>
            <a:off x="7808330" y="4230729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CRIME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E00FB-4343-2628-CCD0-2CC31FAF034F}"/>
              </a:ext>
            </a:extLst>
          </p:cNvPr>
          <p:cNvSpPr txBox="1"/>
          <p:nvPr/>
        </p:nvSpPr>
        <p:spPr>
          <a:xfrm>
            <a:off x="8584134" y="3877846"/>
            <a:ext cx="824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BEAST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24082-F0CB-AB9C-CAD0-B7F7A65DC798}"/>
              </a:ext>
            </a:extLst>
          </p:cNvPr>
          <p:cNvSpPr txBox="1"/>
          <p:nvPr/>
        </p:nvSpPr>
        <p:spPr>
          <a:xfrm>
            <a:off x="9861288" y="4215719"/>
            <a:ext cx="101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DROWN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CED8C-AC76-3D55-2A38-C75D556A9F29}"/>
              </a:ext>
            </a:extLst>
          </p:cNvPr>
          <p:cNvSpPr txBox="1"/>
          <p:nvPr/>
        </p:nvSpPr>
        <p:spPr>
          <a:xfrm>
            <a:off x="8683864" y="462238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SKIP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EE6D7-AF63-3A36-C630-026665884E92}"/>
              </a:ext>
            </a:extLst>
          </p:cNvPr>
          <p:cNvSpPr txBox="1"/>
          <p:nvPr/>
        </p:nvSpPr>
        <p:spPr>
          <a:xfrm>
            <a:off x="6553200" y="5045901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FREAK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E9E3A-9E4A-2234-4220-C8D577B7EDCE}"/>
              </a:ext>
            </a:extLst>
          </p:cNvPr>
          <p:cNvSpPr txBox="1"/>
          <p:nvPr/>
        </p:nvSpPr>
        <p:spPr>
          <a:xfrm>
            <a:off x="9552171" y="3863142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Lucky 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9253D2-CC90-D24F-BB19-151C3F8457C8}"/>
              </a:ext>
            </a:extLst>
          </p:cNvPr>
          <p:cNvSpPr txBox="1"/>
          <p:nvPr/>
        </p:nvSpPr>
        <p:spPr>
          <a:xfrm>
            <a:off x="6701246" y="4623919"/>
            <a:ext cx="189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Triple Handshake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827DC-71B5-785E-79E6-B59B3F3FCA3D}"/>
              </a:ext>
            </a:extLst>
          </p:cNvPr>
          <p:cNvSpPr txBox="1"/>
          <p:nvPr/>
        </p:nvSpPr>
        <p:spPr>
          <a:xfrm>
            <a:off x="9444042" y="4622389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Heartbleed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0B4FB7-DFAB-1F1F-0842-CD22EB552254}"/>
              </a:ext>
            </a:extLst>
          </p:cNvPr>
          <p:cNvSpPr txBox="1"/>
          <p:nvPr/>
        </p:nvSpPr>
        <p:spPr>
          <a:xfrm>
            <a:off x="10237240" y="5045901"/>
            <a:ext cx="99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ALPACA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05DCF0-0682-8571-4B1C-EE11DEE6A706}"/>
              </a:ext>
            </a:extLst>
          </p:cNvPr>
          <p:cNvSpPr txBox="1"/>
          <p:nvPr/>
        </p:nvSpPr>
        <p:spPr>
          <a:xfrm>
            <a:off x="9078451" y="5045901"/>
            <a:ext cx="947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LogJam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7578A9-4770-0E06-56FA-77ABF6A9CE75}"/>
              </a:ext>
            </a:extLst>
          </p:cNvPr>
          <p:cNvSpPr txBox="1"/>
          <p:nvPr/>
        </p:nvSpPr>
        <p:spPr>
          <a:xfrm>
            <a:off x="7029320" y="4226856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4F24CA-1209-73DD-B55C-4413E52DAE37}"/>
              </a:ext>
            </a:extLst>
          </p:cNvPr>
          <p:cNvSpPr txBox="1"/>
          <p:nvPr/>
        </p:nvSpPr>
        <p:spPr>
          <a:xfrm>
            <a:off x="8785039" y="4238954"/>
            <a:ext cx="106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BREACH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FC58B7-CEAC-0C96-563F-16173CC6FFC7}"/>
              </a:ext>
            </a:extLst>
          </p:cNvPr>
          <p:cNvSpPr txBox="1"/>
          <p:nvPr/>
        </p:nvSpPr>
        <p:spPr>
          <a:xfrm>
            <a:off x="8115881" y="3436506"/>
            <a:ext cx="150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SSL Stripping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EBC6E-E37C-8239-947E-2D28F2DCD926}"/>
              </a:ext>
            </a:extLst>
          </p:cNvPr>
          <p:cNvSpPr txBox="1"/>
          <p:nvPr/>
        </p:nvSpPr>
        <p:spPr>
          <a:xfrm>
            <a:off x="7725344" y="5045901"/>
            <a:ext cx="114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STARTTLS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87C7EE-0AEB-2699-3311-BA653ACD4756}"/>
              </a:ext>
            </a:extLst>
          </p:cNvPr>
          <p:cNvSpPr txBox="1"/>
          <p:nvPr/>
        </p:nvSpPr>
        <p:spPr>
          <a:xfrm>
            <a:off x="7189666" y="5608960"/>
            <a:ext cx="3443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3"/>
                </a:solidFill>
              </a:rPr>
              <a:t>* No major attacks yet on TLS 1.3</a:t>
            </a:r>
          </a:p>
        </p:txBody>
      </p:sp>
    </p:spTree>
    <p:extLst>
      <p:ext uri="{BB962C8B-B14F-4D97-AF65-F5344CB8AC3E}">
        <p14:creationId xmlns:p14="http://schemas.microsoft.com/office/powerpoint/2010/main" val="224243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F096-BCEC-11F6-A37D-BCBB5403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Roadmap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4D2FC-728F-C16D-C75D-6B2BAF508E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683347"/>
            <a:ext cx="3774790" cy="18714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3B8BD2-979F-2C0A-FA45-03BA10722B0F}"/>
              </a:ext>
            </a:extLst>
          </p:cNvPr>
          <p:cNvSpPr txBox="1"/>
          <p:nvPr/>
        </p:nvSpPr>
        <p:spPr>
          <a:xfrm>
            <a:off x="512807" y="4868561"/>
            <a:ext cx="4607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Modeling Adversaries &amp; Protocols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DB419C-5281-0F89-93BA-34F5F528F849}"/>
              </a:ext>
            </a:extLst>
          </p:cNvPr>
          <p:cNvGrpSpPr/>
          <p:nvPr/>
        </p:nvGrpSpPr>
        <p:grpSpPr>
          <a:xfrm>
            <a:off x="6660292" y="3150973"/>
            <a:ext cx="4306330" cy="809368"/>
            <a:chOff x="6660292" y="3150973"/>
            <a:chExt cx="4306330" cy="8093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5E994AE-7B3D-D09A-5019-CEE24526139E}"/>
                    </a:ext>
                  </a:extLst>
                </p:cNvPr>
                <p:cNvSpPr txBox="1"/>
                <p:nvPr/>
              </p:nvSpPr>
              <p:spPr>
                <a:xfrm>
                  <a:off x="6824394" y="3309396"/>
                  <a:ext cx="4051943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∷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∘| 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𝜅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3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5E994AE-7B3D-D09A-5019-CEE2452613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4394" y="3309396"/>
                  <a:ext cx="4051943" cy="492443"/>
                </a:xfrm>
                <a:prstGeom prst="rect">
                  <a:avLst/>
                </a:prstGeom>
                <a:blipFill>
                  <a:blip r:embed="rId4"/>
                  <a:stretch>
                    <a:fillRect l="-1875" t="-7500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730398-93F9-FA99-8F7A-42F2A21DE2A8}"/>
                </a:ext>
              </a:extLst>
            </p:cNvPr>
            <p:cNvSpPr/>
            <p:nvPr/>
          </p:nvSpPr>
          <p:spPr>
            <a:xfrm>
              <a:off x="6660292" y="3150973"/>
              <a:ext cx="4306330" cy="809368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099F53D-9153-0B5B-96A0-DD946750ABB5}"/>
              </a:ext>
            </a:extLst>
          </p:cNvPr>
          <p:cNvSpPr txBox="1"/>
          <p:nvPr/>
        </p:nvSpPr>
        <p:spPr>
          <a:xfrm>
            <a:off x="7394229" y="4868560"/>
            <a:ext cx="2912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Collected Properties</a:t>
            </a:r>
          </a:p>
        </p:txBody>
      </p:sp>
    </p:spTree>
    <p:extLst>
      <p:ext uri="{BB962C8B-B14F-4D97-AF65-F5344CB8AC3E}">
        <p14:creationId xmlns:p14="http://schemas.microsoft.com/office/powerpoint/2010/main" val="237841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5853-4D17-C180-7F8A-DE4324A7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9E0B-FC08-2149-B9A3-945A93CC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protocol characteristics to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642A2-F2A1-AE27-4443-8E8AB33D601A}"/>
              </a:ext>
            </a:extLst>
          </p:cNvPr>
          <p:cNvSpPr/>
          <p:nvPr/>
        </p:nvSpPr>
        <p:spPr>
          <a:xfrm>
            <a:off x="650240" y="2001520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C315E-7174-941E-BE84-5776A8D855D9}"/>
              </a:ext>
            </a:extLst>
          </p:cNvPr>
          <p:cNvSpPr/>
          <p:nvPr/>
        </p:nvSpPr>
        <p:spPr>
          <a:xfrm>
            <a:off x="5877560" y="2096170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Bob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AE75E3-AF31-97A3-65E9-91DC8424DA66}"/>
              </a:ext>
            </a:extLst>
          </p:cNvPr>
          <p:cNvCxnSpPr>
            <a:cxnSpLocks/>
          </p:cNvCxnSpPr>
          <p:nvPr/>
        </p:nvCxnSpPr>
        <p:spPr>
          <a:xfrm>
            <a:off x="2357120" y="2438400"/>
            <a:ext cx="352044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3E2E84A-85F8-4C4D-4D32-16466AF6ADF8}"/>
              </a:ext>
            </a:extLst>
          </p:cNvPr>
          <p:cNvSpPr/>
          <p:nvPr/>
        </p:nvSpPr>
        <p:spPr>
          <a:xfrm>
            <a:off x="3309620" y="4683760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Charlie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B41558-35A5-4952-A37D-AD8E0CDAC5E2}"/>
              </a:ext>
            </a:extLst>
          </p:cNvPr>
          <p:cNvCxnSpPr>
            <a:cxnSpLocks/>
          </p:cNvCxnSpPr>
          <p:nvPr/>
        </p:nvCxnSpPr>
        <p:spPr>
          <a:xfrm>
            <a:off x="2357120" y="2946400"/>
            <a:ext cx="3520440" cy="8290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48610F-70C3-4124-5D39-8F968F712B39}"/>
              </a:ext>
            </a:extLst>
          </p:cNvPr>
          <p:cNvCxnSpPr>
            <a:cxnSpLocks/>
          </p:cNvCxnSpPr>
          <p:nvPr/>
        </p:nvCxnSpPr>
        <p:spPr>
          <a:xfrm>
            <a:off x="1960880" y="3464560"/>
            <a:ext cx="1348740" cy="16357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6328B3-C670-DD6E-B409-AFA1C3887F17}"/>
              </a:ext>
            </a:extLst>
          </p:cNvPr>
          <p:cNvCxnSpPr>
            <a:cxnSpLocks/>
          </p:cNvCxnSpPr>
          <p:nvPr/>
        </p:nvCxnSpPr>
        <p:spPr>
          <a:xfrm>
            <a:off x="1320800" y="3464560"/>
            <a:ext cx="1988820" cy="2245360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3467E6-ACC5-19C7-514E-7937FFDCA5AB}"/>
              </a:ext>
            </a:extLst>
          </p:cNvPr>
          <p:cNvCxnSpPr>
            <a:cxnSpLocks/>
          </p:cNvCxnSpPr>
          <p:nvPr/>
        </p:nvCxnSpPr>
        <p:spPr>
          <a:xfrm flipV="1">
            <a:off x="5006340" y="3543970"/>
            <a:ext cx="1435100" cy="171383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462C77-3FE3-0957-49FE-7B633DE116D7}"/>
              </a:ext>
            </a:extLst>
          </p:cNvPr>
          <p:cNvCxnSpPr>
            <a:cxnSpLocks/>
          </p:cNvCxnSpPr>
          <p:nvPr/>
        </p:nvCxnSpPr>
        <p:spPr>
          <a:xfrm flipV="1">
            <a:off x="5006340" y="3578191"/>
            <a:ext cx="1998980" cy="2223169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Key with solid fill">
            <a:extLst>
              <a:ext uri="{FF2B5EF4-FFF2-40B4-BE49-F238E27FC236}">
                <a16:creationId xmlns:a16="http://schemas.microsoft.com/office/drawing/2014/main" id="{E4B2C517-0EE3-9612-AA95-D225723AF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040" y="2954690"/>
            <a:ext cx="589280" cy="589280"/>
          </a:xfrm>
          <a:prstGeom prst="rect">
            <a:avLst/>
          </a:prstGeom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A1CFB9F-3A16-5C73-0503-EDF4193BA74D}"/>
              </a:ext>
            </a:extLst>
          </p:cNvPr>
          <p:cNvSpPr/>
          <p:nvPr/>
        </p:nvSpPr>
        <p:spPr>
          <a:xfrm>
            <a:off x="3238500" y="2227298"/>
            <a:ext cx="1859280" cy="350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Secrets!</a:t>
            </a:r>
          </a:p>
        </p:txBody>
      </p:sp>
      <p:pic>
        <p:nvPicPr>
          <p:cNvPr id="26" name="Graphic 25" descr="Lock with solid fill">
            <a:extLst>
              <a:ext uri="{FF2B5EF4-FFF2-40B4-BE49-F238E27FC236}">
                <a16:creationId xmlns:a16="http://schemas.microsoft.com/office/drawing/2014/main" id="{98403D13-4C54-D91D-BC9C-E038FC51D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9480" y="1891542"/>
            <a:ext cx="574040" cy="574040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0A6C40A-3B46-07CB-3985-30630BEEEB2C}"/>
              </a:ext>
            </a:extLst>
          </p:cNvPr>
          <p:cNvSpPr/>
          <p:nvPr/>
        </p:nvSpPr>
        <p:spPr>
          <a:xfrm>
            <a:off x="1097280" y="4338320"/>
            <a:ext cx="2080260" cy="398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 promise...</a:t>
            </a:r>
          </a:p>
        </p:txBody>
      </p:sp>
      <p:pic>
        <p:nvPicPr>
          <p:cNvPr id="32" name="Graphic 31" descr="Signature with solid fill">
            <a:extLst>
              <a:ext uri="{FF2B5EF4-FFF2-40B4-BE49-F238E27FC236}">
                <a16:creationId xmlns:a16="http://schemas.microsoft.com/office/drawing/2014/main" id="{E6577106-257E-2F20-C6E5-42D34BDD06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9200" y="4314190"/>
            <a:ext cx="447040" cy="447040"/>
          </a:xfrm>
          <a:prstGeom prst="rect">
            <a:avLst/>
          </a:prstGeom>
        </p:spPr>
      </p:pic>
      <p:pic>
        <p:nvPicPr>
          <p:cNvPr id="35" name="Graphic 34" descr="Key with solid fill">
            <a:extLst>
              <a:ext uri="{FF2B5EF4-FFF2-40B4-BE49-F238E27FC236}">
                <a16:creationId xmlns:a16="http://schemas.microsoft.com/office/drawing/2014/main" id="{27A46500-491E-1401-D7FB-C41BC70A0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92220" y="5557520"/>
            <a:ext cx="589280" cy="589280"/>
          </a:xfrm>
          <a:prstGeom prst="rect">
            <a:avLst/>
          </a:prstGeom>
        </p:spPr>
      </p:pic>
      <p:pic>
        <p:nvPicPr>
          <p:cNvPr id="36" name="Graphic 35" descr="Key with solid fill">
            <a:extLst>
              <a:ext uri="{FF2B5EF4-FFF2-40B4-BE49-F238E27FC236}">
                <a16:creationId xmlns:a16="http://schemas.microsoft.com/office/drawing/2014/main" id="{0DB5F4B1-83CB-85F0-7C9D-74C4B2A43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6720" y="2875280"/>
            <a:ext cx="589280" cy="589280"/>
          </a:xfrm>
          <a:prstGeom prst="rect">
            <a:avLst/>
          </a:prstGeom>
        </p:spPr>
      </p:pic>
      <p:pic>
        <p:nvPicPr>
          <p:cNvPr id="37" name="Graphic 36" descr="Key with solid fill">
            <a:extLst>
              <a:ext uri="{FF2B5EF4-FFF2-40B4-BE49-F238E27FC236}">
                <a16:creationId xmlns:a16="http://schemas.microsoft.com/office/drawing/2014/main" id="{E56DBC42-E38A-B776-3657-8FAE4103E0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60" y="2875280"/>
            <a:ext cx="589280" cy="58928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38491B3-976E-7E59-E73C-DD1DEA24331D}"/>
              </a:ext>
            </a:extLst>
          </p:cNvPr>
          <p:cNvSpPr txBox="1"/>
          <p:nvPr/>
        </p:nvSpPr>
        <p:spPr>
          <a:xfrm>
            <a:off x="7866380" y="2879864"/>
            <a:ext cx="4541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Need to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Participants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Network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Cryptographic primitives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Encryption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Signatures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79826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0463-5C71-CA79-497F-1F86D698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DEDD-932F-8EE1-9CE3-492CA86C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365125"/>
            <a:ext cx="11267735" cy="1325563"/>
          </a:xfrm>
        </p:spPr>
        <p:txBody>
          <a:bodyPr/>
          <a:lstStyle/>
          <a:p>
            <a:r>
              <a:rPr lang="en-US" dirty="0"/>
              <a:t>Modeling cryptographic operations (UF + Axioms)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47317-55DC-D50A-C9E7-F2A5EE90D8E5}"/>
              </a:ext>
            </a:extLst>
          </p:cNvPr>
          <p:cNvSpPr txBox="1"/>
          <p:nvPr/>
        </p:nvSpPr>
        <p:spPr>
          <a:xfrm>
            <a:off x="838200" y="2898993"/>
            <a:ext cx="3400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Symmetric Encryption: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0F2F57-23F7-BF4A-ADEC-B40FD47A3033}"/>
                  </a:ext>
                </a:extLst>
              </p:cNvPr>
              <p:cNvSpPr txBox="1"/>
              <p:nvPr/>
            </p:nvSpPr>
            <p:spPr>
              <a:xfrm>
                <a:off x="5076626" y="1849993"/>
                <a:ext cx="14668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0F2F57-23F7-BF4A-ADEC-B40FD47A3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626" y="1849993"/>
                <a:ext cx="1466850" cy="646331"/>
              </a:xfrm>
              <a:prstGeom prst="rect">
                <a:avLst/>
              </a:prstGeom>
              <a:blipFill>
                <a:blip r:embed="rId2"/>
                <a:stretch>
                  <a:fillRect r="-10256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6008D0-759A-03A9-D102-65B7E84169E0}"/>
                  </a:ext>
                </a:extLst>
              </p:cNvPr>
              <p:cNvSpPr txBox="1"/>
              <p:nvPr/>
            </p:nvSpPr>
            <p:spPr>
              <a:xfrm>
                <a:off x="4838500" y="3360658"/>
                <a:ext cx="367665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𝑑𝑒𝑐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6008D0-759A-03A9-D102-65B7E8416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500" y="3360658"/>
                <a:ext cx="3676651" cy="646331"/>
              </a:xfrm>
              <a:prstGeom prst="rect">
                <a:avLst/>
              </a:prstGeom>
              <a:blipFill>
                <a:blip r:embed="rId3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4A36E4-D262-494F-180D-0F36CE5C24D1}"/>
                  </a:ext>
                </a:extLst>
              </p:cNvPr>
              <p:cNvSpPr txBox="1"/>
              <p:nvPr/>
            </p:nvSpPr>
            <p:spPr>
              <a:xfrm>
                <a:off x="4686100" y="3860036"/>
                <a:ext cx="518160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’≠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𝑑𝑒𝑐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4A36E4-D262-494F-180D-0F36CE5C2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100" y="3860036"/>
                <a:ext cx="5181601" cy="646331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3B69AC-9FCD-EF2F-A241-18444617EECB}"/>
                  </a:ext>
                </a:extLst>
              </p:cNvPr>
              <p:cNvSpPr txBox="1"/>
              <p:nvPr/>
            </p:nvSpPr>
            <p:spPr>
              <a:xfrm>
                <a:off x="4971851" y="2562207"/>
                <a:ext cx="597693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𝑒𝑛𝑐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𝑒𝑛𝑐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’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’=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’=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3B69AC-9FCD-EF2F-A241-18444617E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851" y="2562207"/>
                <a:ext cx="5976939" cy="646331"/>
              </a:xfrm>
              <a:prstGeom prst="rect">
                <a:avLst/>
              </a:prstGeom>
              <a:blipFill>
                <a:blip r:embed="rId5"/>
                <a:stretch>
                  <a:fillRect r="-1059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508C80-7E14-8B95-3DBD-C73FBBFD90D7}"/>
              </a:ext>
            </a:extLst>
          </p:cNvPr>
          <p:cNvCxnSpPr>
            <a:cxnSpLocks/>
          </p:cNvCxnSpPr>
          <p:nvPr/>
        </p:nvCxnSpPr>
        <p:spPr>
          <a:xfrm flipH="1">
            <a:off x="8391525" y="2209308"/>
            <a:ext cx="980809" cy="502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62FC79B-5E59-0AC7-4C03-828FA8064FFD}"/>
              </a:ext>
            </a:extLst>
          </p:cNvPr>
          <p:cNvSpPr txBox="1"/>
          <p:nvPr/>
        </p:nvSpPr>
        <p:spPr>
          <a:xfrm>
            <a:off x="9372334" y="1988492"/>
            <a:ext cx="102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Injective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0EF1BD-BF5B-4CDB-A4AD-61D10681F6F9}"/>
              </a:ext>
            </a:extLst>
          </p:cNvPr>
          <p:cNvCxnSpPr>
            <a:cxnSpLocks/>
            <a:stCxn id="22" idx="1"/>
            <a:endCxn id="11" idx="3"/>
          </p:cNvCxnSpPr>
          <p:nvPr/>
        </p:nvCxnSpPr>
        <p:spPr>
          <a:xfrm flipH="1" flipV="1">
            <a:off x="8515151" y="3683824"/>
            <a:ext cx="1162050" cy="50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875693D-3035-2AB9-AAEC-DB1B13CB5649}"/>
              </a:ext>
            </a:extLst>
          </p:cNvPr>
          <p:cNvSpPr txBox="1"/>
          <p:nvPr/>
        </p:nvSpPr>
        <p:spPr>
          <a:xfrm>
            <a:off x="9677201" y="3410900"/>
            <a:ext cx="2147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Decryption requires</a:t>
            </a:r>
          </a:p>
          <a:p>
            <a:r>
              <a:rPr lang="en-US" dirty="0">
                <a:solidFill>
                  <a:schemeClr val="tx2"/>
                </a:solidFill>
              </a:rPr>
              <a:t>same key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60BA79-1B47-C600-4D1F-0C01AF7E2E0F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9439076" y="3734066"/>
            <a:ext cx="238125" cy="361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6581236-08CD-67AC-DBF7-C44F8ED44A38}"/>
              </a:ext>
            </a:extLst>
          </p:cNvPr>
          <p:cNvSpPr txBox="1"/>
          <p:nvPr/>
        </p:nvSpPr>
        <p:spPr>
          <a:xfrm>
            <a:off x="1443723" y="5379481"/>
            <a:ext cx="279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Digital Signatures: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739BCD1-C3F0-3E21-B846-006973099E88}"/>
                  </a:ext>
                </a:extLst>
              </p:cNvPr>
              <p:cNvSpPr txBox="1"/>
              <p:nvPr/>
            </p:nvSpPr>
            <p:spPr>
              <a:xfrm>
                <a:off x="4971850" y="4733150"/>
                <a:ext cx="170497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739BCD1-C3F0-3E21-B846-006973099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850" y="4733150"/>
                <a:ext cx="1704975" cy="646331"/>
              </a:xfrm>
              <a:prstGeom prst="rect">
                <a:avLst/>
              </a:prstGeom>
              <a:blipFill>
                <a:blip r:embed="rId6"/>
                <a:stretch>
                  <a:fillRect l="-2963" r="-11111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F66DFB-0D7A-832E-3381-BC7BE0EDEDA3}"/>
                  </a:ext>
                </a:extLst>
              </p:cNvPr>
              <p:cNvSpPr txBox="1"/>
              <p:nvPr/>
            </p:nvSpPr>
            <p:spPr>
              <a:xfrm rot="5400000">
                <a:off x="5715484" y="5379482"/>
                <a:ext cx="64633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F66DFB-0D7A-832E-3381-BC7BE0EDE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715484" y="5379482"/>
                <a:ext cx="646332" cy="646331"/>
              </a:xfrm>
              <a:prstGeom prst="rect">
                <a:avLst/>
              </a:prstGeom>
              <a:blipFill>
                <a:blip r:embed="rId7"/>
                <a:stretch>
                  <a:fillRect l="-11538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454C556C-CC8E-5BB3-B039-A25BAA004167}"/>
              </a:ext>
            </a:extLst>
          </p:cNvPr>
          <p:cNvSpPr/>
          <p:nvPr/>
        </p:nvSpPr>
        <p:spPr>
          <a:xfrm>
            <a:off x="4386196" y="2034659"/>
            <a:ext cx="438084" cy="2299216"/>
          </a:xfrm>
          <a:prstGeom prst="leftBrace">
            <a:avLst>
              <a:gd name="adj1" fmla="val 56403"/>
              <a:gd name="adj2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E6D64C88-7F86-6D2F-C58A-F9D76AB66BE9}"/>
              </a:ext>
            </a:extLst>
          </p:cNvPr>
          <p:cNvSpPr/>
          <p:nvPr/>
        </p:nvSpPr>
        <p:spPr>
          <a:xfrm>
            <a:off x="4452936" y="4955503"/>
            <a:ext cx="438084" cy="1325563"/>
          </a:xfrm>
          <a:prstGeom prst="leftBrace">
            <a:avLst>
              <a:gd name="adj1" fmla="val 56403"/>
              <a:gd name="adj2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8486FD2-9A27-DCE5-C367-0BFB0B3C2FE6}"/>
              </a:ext>
            </a:extLst>
          </p:cNvPr>
          <p:cNvCxnSpPr>
            <a:cxnSpLocks/>
          </p:cNvCxnSpPr>
          <p:nvPr/>
        </p:nvCxnSpPr>
        <p:spPr>
          <a:xfrm>
            <a:off x="5076626" y="1780782"/>
            <a:ext cx="210140" cy="298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340F047-A22E-6A55-9921-FD4AD6E39BE4}"/>
              </a:ext>
            </a:extLst>
          </p:cNvPr>
          <p:cNvSpPr txBox="1"/>
          <p:nvPr/>
        </p:nvSpPr>
        <p:spPr>
          <a:xfrm>
            <a:off x="3852092" y="1447326"/>
            <a:ext cx="290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Uninterpreted function (UF)</a:t>
            </a:r>
          </a:p>
        </p:txBody>
      </p:sp>
    </p:spTree>
    <p:extLst>
      <p:ext uri="{BB962C8B-B14F-4D97-AF65-F5344CB8AC3E}">
        <p14:creationId xmlns:p14="http://schemas.microsoft.com/office/powerpoint/2010/main" val="94311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20" grpId="0"/>
      <p:bldP spid="22" grpId="0"/>
      <p:bldP spid="29" grpId="0"/>
      <p:bldP spid="30" grpId="0"/>
      <p:bldP spid="31" grpId="0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5076-DC91-2C51-70EE-5782999F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adversary characteristics to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E4D9F9-355C-295A-B947-10A9C11552D6}"/>
              </a:ext>
            </a:extLst>
          </p:cNvPr>
          <p:cNvSpPr/>
          <p:nvPr/>
        </p:nvSpPr>
        <p:spPr>
          <a:xfrm>
            <a:off x="650240" y="2001520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5A75ED-E05F-4336-6B4A-F083A46B6D64}"/>
              </a:ext>
            </a:extLst>
          </p:cNvPr>
          <p:cNvSpPr/>
          <p:nvPr/>
        </p:nvSpPr>
        <p:spPr>
          <a:xfrm>
            <a:off x="7538720" y="2001520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Bob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AA3003-760A-194A-25FE-24C3F60CD396}"/>
              </a:ext>
            </a:extLst>
          </p:cNvPr>
          <p:cNvCxnSpPr>
            <a:cxnSpLocks/>
          </p:cNvCxnSpPr>
          <p:nvPr/>
        </p:nvCxnSpPr>
        <p:spPr>
          <a:xfrm>
            <a:off x="2357120" y="2438400"/>
            <a:ext cx="51816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DBF79F-F9C3-2EEC-9F06-96604DFBF88D}"/>
              </a:ext>
            </a:extLst>
          </p:cNvPr>
          <p:cNvSpPr/>
          <p:nvPr/>
        </p:nvSpPr>
        <p:spPr>
          <a:xfrm>
            <a:off x="4094480" y="4683760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Charlie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C5DBB3-A620-C302-13B5-C5ECE7323388}"/>
              </a:ext>
            </a:extLst>
          </p:cNvPr>
          <p:cNvCxnSpPr>
            <a:cxnSpLocks/>
          </p:cNvCxnSpPr>
          <p:nvPr/>
        </p:nvCxnSpPr>
        <p:spPr>
          <a:xfrm>
            <a:off x="2357120" y="2946400"/>
            <a:ext cx="5181600" cy="0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809F1C-0141-304B-DFD5-2A54D619A61C}"/>
              </a:ext>
            </a:extLst>
          </p:cNvPr>
          <p:cNvCxnSpPr>
            <a:cxnSpLocks/>
          </p:cNvCxnSpPr>
          <p:nvPr/>
        </p:nvCxnSpPr>
        <p:spPr>
          <a:xfrm>
            <a:off x="1960880" y="3464560"/>
            <a:ext cx="2133600" cy="17373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DB781A-45EE-8B6A-E0BE-B53A39B9ED18}"/>
              </a:ext>
            </a:extLst>
          </p:cNvPr>
          <p:cNvCxnSpPr>
            <a:cxnSpLocks/>
          </p:cNvCxnSpPr>
          <p:nvPr/>
        </p:nvCxnSpPr>
        <p:spPr>
          <a:xfrm>
            <a:off x="1320800" y="3464560"/>
            <a:ext cx="2773680" cy="2326640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914094-2FC9-E433-D154-677A57DC7C40}"/>
              </a:ext>
            </a:extLst>
          </p:cNvPr>
          <p:cNvCxnSpPr>
            <a:cxnSpLocks/>
          </p:cNvCxnSpPr>
          <p:nvPr/>
        </p:nvCxnSpPr>
        <p:spPr>
          <a:xfrm flipV="1">
            <a:off x="5801360" y="3454400"/>
            <a:ext cx="2275840" cy="19608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8BCD-0F57-8ED9-3A47-207AA507761F}"/>
              </a:ext>
            </a:extLst>
          </p:cNvPr>
          <p:cNvCxnSpPr>
            <a:cxnSpLocks/>
          </p:cNvCxnSpPr>
          <p:nvPr/>
        </p:nvCxnSpPr>
        <p:spPr>
          <a:xfrm flipV="1">
            <a:off x="5801360" y="3464560"/>
            <a:ext cx="2997200" cy="2326640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Key with solid fill">
            <a:extLst>
              <a:ext uri="{FF2B5EF4-FFF2-40B4-BE49-F238E27FC236}">
                <a16:creationId xmlns:a16="http://schemas.microsoft.com/office/drawing/2014/main" id="{091966CF-20AC-1A61-F2DF-CE2326B66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7200" y="2860040"/>
            <a:ext cx="589280" cy="589280"/>
          </a:xfrm>
          <a:prstGeom prst="rect">
            <a:avLst/>
          </a:prstGeom>
        </p:spPr>
      </p:pic>
      <p:pic>
        <p:nvPicPr>
          <p:cNvPr id="35" name="Graphic 34" descr="Key with solid fill">
            <a:extLst>
              <a:ext uri="{FF2B5EF4-FFF2-40B4-BE49-F238E27FC236}">
                <a16:creationId xmlns:a16="http://schemas.microsoft.com/office/drawing/2014/main" id="{B8CD1297-F6FB-78CA-7BBA-F00E233AF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7080" y="5557520"/>
            <a:ext cx="589280" cy="589280"/>
          </a:xfrm>
          <a:prstGeom prst="rect">
            <a:avLst/>
          </a:prstGeom>
        </p:spPr>
      </p:pic>
      <p:pic>
        <p:nvPicPr>
          <p:cNvPr id="36" name="Graphic 35" descr="Key with solid fill">
            <a:extLst>
              <a:ext uri="{FF2B5EF4-FFF2-40B4-BE49-F238E27FC236}">
                <a16:creationId xmlns:a16="http://schemas.microsoft.com/office/drawing/2014/main" id="{19417CDA-5FBA-11B9-0962-9D0E55BB2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6720" y="2875280"/>
            <a:ext cx="589280" cy="589280"/>
          </a:xfrm>
          <a:prstGeom prst="rect">
            <a:avLst/>
          </a:prstGeom>
        </p:spPr>
      </p:pic>
      <p:pic>
        <p:nvPicPr>
          <p:cNvPr id="37" name="Graphic 36" descr="Key with solid fill">
            <a:extLst>
              <a:ext uri="{FF2B5EF4-FFF2-40B4-BE49-F238E27FC236}">
                <a16:creationId xmlns:a16="http://schemas.microsoft.com/office/drawing/2014/main" id="{7EC96176-4230-7D06-7B6C-9C4A1693C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3760" y="2875280"/>
            <a:ext cx="589280" cy="589280"/>
          </a:xfrm>
          <a:prstGeom prst="rect">
            <a:avLst/>
          </a:prstGeom>
        </p:spPr>
      </p:pic>
      <p:pic>
        <p:nvPicPr>
          <p:cNvPr id="40" name="Graphic 39" descr="Devil face outline with solid fill">
            <a:extLst>
              <a:ext uri="{FF2B5EF4-FFF2-40B4-BE49-F238E27FC236}">
                <a16:creationId xmlns:a16="http://schemas.microsoft.com/office/drawing/2014/main" id="{FBF7B98B-870D-C6C9-D4D7-F9CB3EFA2E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05302" y="3168322"/>
            <a:ext cx="1078558" cy="1078558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27447C2-3837-0B26-956B-F5833245D344}"/>
              </a:ext>
            </a:extLst>
          </p:cNvPr>
          <p:cNvCxnSpPr>
            <a:cxnSpLocks/>
          </p:cNvCxnSpPr>
          <p:nvPr/>
        </p:nvCxnSpPr>
        <p:spPr>
          <a:xfrm>
            <a:off x="2357120" y="2430780"/>
            <a:ext cx="2054860" cy="86995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EF92FB2-A215-2D19-61F6-A5F3B0078F14}"/>
              </a:ext>
            </a:extLst>
          </p:cNvPr>
          <p:cNvCxnSpPr>
            <a:cxnSpLocks/>
          </p:cNvCxnSpPr>
          <p:nvPr/>
        </p:nvCxnSpPr>
        <p:spPr>
          <a:xfrm flipV="1">
            <a:off x="5433060" y="2946400"/>
            <a:ext cx="2098982" cy="354330"/>
          </a:xfrm>
          <a:prstGeom prst="straightConnector1">
            <a:avLst/>
          </a:prstGeom>
          <a:ln w="57150"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A7BA9B2-F967-2C52-0906-EFAE9E2006CC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960880" y="3464560"/>
            <a:ext cx="2444422" cy="243041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2C082A5-7D46-001D-E3A8-CE432F894D35}"/>
              </a:ext>
            </a:extLst>
          </p:cNvPr>
          <p:cNvCxnSpPr>
            <a:cxnSpLocks/>
          </p:cNvCxnSpPr>
          <p:nvPr/>
        </p:nvCxnSpPr>
        <p:spPr>
          <a:xfrm flipV="1">
            <a:off x="4087802" y="4040822"/>
            <a:ext cx="545158" cy="1750377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C077F55-0DFF-D3A6-366E-3DD3CB3CF6F7}"/>
              </a:ext>
            </a:extLst>
          </p:cNvPr>
          <p:cNvCxnSpPr>
            <a:cxnSpLocks/>
            <a:stCxn id="9" idx="3"/>
          </p:cNvCxnSpPr>
          <p:nvPr/>
        </p:nvCxnSpPr>
        <p:spPr>
          <a:xfrm flipH="1" flipV="1">
            <a:off x="5237480" y="4040821"/>
            <a:ext cx="563880" cy="1374459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273EF0B-CA81-2F9A-3868-3833ACD099FD}"/>
              </a:ext>
            </a:extLst>
          </p:cNvPr>
          <p:cNvCxnSpPr>
            <a:cxnSpLocks/>
          </p:cNvCxnSpPr>
          <p:nvPr/>
        </p:nvCxnSpPr>
        <p:spPr>
          <a:xfrm flipH="1">
            <a:off x="5433060" y="3464559"/>
            <a:ext cx="3365500" cy="436881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C520F8B-8557-3963-047E-5A4C1A98F9BA}"/>
              </a:ext>
            </a:extLst>
          </p:cNvPr>
          <p:cNvCxnSpPr>
            <a:cxnSpLocks/>
          </p:cNvCxnSpPr>
          <p:nvPr/>
        </p:nvCxnSpPr>
        <p:spPr>
          <a:xfrm flipV="1">
            <a:off x="5433060" y="2411878"/>
            <a:ext cx="2105660" cy="676761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245CA07-9C9B-8EBD-4CD4-CEEA9F2F9390}"/>
              </a:ext>
            </a:extLst>
          </p:cNvPr>
          <p:cNvCxnSpPr>
            <a:cxnSpLocks/>
          </p:cNvCxnSpPr>
          <p:nvPr/>
        </p:nvCxnSpPr>
        <p:spPr>
          <a:xfrm flipV="1">
            <a:off x="5483860" y="3459319"/>
            <a:ext cx="2570009" cy="248282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88C1845-06B2-E3BE-534E-73F77D42856B}"/>
              </a:ext>
            </a:extLst>
          </p:cNvPr>
          <p:cNvCxnSpPr>
            <a:cxnSpLocks/>
          </p:cNvCxnSpPr>
          <p:nvPr/>
        </p:nvCxnSpPr>
        <p:spPr>
          <a:xfrm>
            <a:off x="5080000" y="4104638"/>
            <a:ext cx="182880" cy="579122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E913E92-CE5E-EF70-F454-FB34B9615406}"/>
              </a:ext>
            </a:extLst>
          </p:cNvPr>
          <p:cNvCxnSpPr>
            <a:cxnSpLocks/>
          </p:cNvCxnSpPr>
          <p:nvPr/>
        </p:nvCxnSpPr>
        <p:spPr>
          <a:xfrm flipH="1">
            <a:off x="4653281" y="4173229"/>
            <a:ext cx="168111" cy="554821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7D059C4-6804-04EC-2614-477C83DA9E61}"/>
              </a:ext>
            </a:extLst>
          </p:cNvPr>
          <p:cNvCxnSpPr>
            <a:cxnSpLocks/>
          </p:cNvCxnSpPr>
          <p:nvPr/>
        </p:nvCxnSpPr>
        <p:spPr>
          <a:xfrm flipH="1" flipV="1">
            <a:off x="1336040" y="3490741"/>
            <a:ext cx="3075940" cy="470397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078047A-6B19-F6AA-A730-D2846D35568C}"/>
              </a:ext>
            </a:extLst>
          </p:cNvPr>
          <p:cNvCxnSpPr>
            <a:cxnSpLocks/>
          </p:cNvCxnSpPr>
          <p:nvPr/>
        </p:nvCxnSpPr>
        <p:spPr>
          <a:xfrm flipH="1" flipV="1">
            <a:off x="2357120" y="2956560"/>
            <a:ext cx="2070100" cy="562602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225A22C-F9F6-0177-1CF0-A9647159A23A}"/>
              </a:ext>
            </a:extLst>
          </p:cNvPr>
          <p:cNvGrpSpPr/>
          <p:nvPr/>
        </p:nvGrpSpPr>
        <p:grpSpPr>
          <a:xfrm>
            <a:off x="1625600" y="4850130"/>
            <a:ext cx="2080260" cy="447040"/>
            <a:chOff x="1625600" y="4850130"/>
            <a:chExt cx="2080260" cy="447040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6A49431E-2A33-CD96-E74E-05874646D4E5}"/>
                </a:ext>
              </a:extLst>
            </p:cNvPr>
            <p:cNvSpPr/>
            <p:nvPr/>
          </p:nvSpPr>
          <p:spPr>
            <a:xfrm>
              <a:off x="1625600" y="4874260"/>
              <a:ext cx="2080260" cy="39878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I promise...</a:t>
              </a:r>
            </a:p>
          </p:txBody>
        </p:sp>
        <p:pic>
          <p:nvPicPr>
            <p:cNvPr id="32" name="Graphic 31" descr="Signature with solid fill">
              <a:extLst>
                <a:ext uri="{FF2B5EF4-FFF2-40B4-BE49-F238E27FC236}">
                  <a16:creationId xmlns:a16="http://schemas.microsoft.com/office/drawing/2014/main" id="{26B38076-F3B1-4B90-D03C-28622AE0E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017520" y="4850130"/>
              <a:ext cx="447040" cy="447040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0286FFE-73C0-B160-9865-3E032F89804C}"/>
              </a:ext>
            </a:extLst>
          </p:cNvPr>
          <p:cNvGrpSpPr/>
          <p:nvPr/>
        </p:nvGrpSpPr>
        <p:grpSpPr>
          <a:xfrm>
            <a:off x="3942080" y="1919764"/>
            <a:ext cx="2065020" cy="686276"/>
            <a:chOff x="3942080" y="1919764"/>
            <a:chExt cx="2065020" cy="686276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217D4F05-4450-103A-621A-6061136E47B5}"/>
                </a:ext>
              </a:extLst>
            </p:cNvPr>
            <p:cNvSpPr/>
            <p:nvPr/>
          </p:nvSpPr>
          <p:spPr>
            <a:xfrm>
              <a:off x="3942080" y="2255520"/>
              <a:ext cx="1859280" cy="3505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Secrets!</a:t>
              </a:r>
            </a:p>
          </p:txBody>
        </p:sp>
        <p:pic>
          <p:nvPicPr>
            <p:cNvPr id="26" name="Graphic 25" descr="Lock with solid fill">
              <a:extLst>
                <a:ext uri="{FF2B5EF4-FFF2-40B4-BE49-F238E27FC236}">
                  <a16:creationId xmlns:a16="http://schemas.microsoft.com/office/drawing/2014/main" id="{C47AD5CD-28B3-55DF-9EEB-D111ED618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433060" y="1919764"/>
              <a:ext cx="574040" cy="574040"/>
            </a:xfrm>
            <a:prstGeom prst="rect">
              <a:avLst/>
            </a:prstGeom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F1F1E7CA-6F7B-D475-FD6A-E4A72BFD07BB}"/>
              </a:ext>
            </a:extLst>
          </p:cNvPr>
          <p:cNvSpPr txBox="1"/>
          <p:nvPr/>
        </p:nvSpPr>
        <p:spPr>
          <a:xfrm>
            <a:off x="7696200" y="4406204"/>
            <a:ext cx="4541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Need to model: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Network control (MITM)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Attacker computation</a:t>
            </a:r>
          </a:p>
        </p:txBody>
      </p:sp>
    </p:spTree>
    <p:extLst>
      <p:ext uri="{BB962C8B-B14F-4D97-AF65-F5344CB8AC3E}">
        <p14:creationId xmlns:p14="http://schemas.microsoft.com/office/powerpoint/2010/main" val="305821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2 -0.00509 L 0.10651 -0.1011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43" y="-4815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 0.02176 L -0.10481 0.0581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30" y="1806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9D4D-44FB-564E-F243-12492844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4CAD-76A5-CC68-447D-A02CBF8B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adversaries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D7DC8-DA5E-717B-433F-8FBA1431C41D}"/>
              </a:ext>
            </a:extLst>
          </p:cNvPr>
          <p:cNvSpPr txBox="1"/>
          <p:nvPr/>
        </p:nvSpPr>
        <p:spPr>
          <a:xfrm>
            <a:off x="1450117" y="6187831"/>
            <a:ext cx="8549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*Aside: this kind of adversary is called a Symbolic Adversary (or Dolev-Yao Adversary)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DD43E-3C5C-C378-3102-EB783D66F92D}"/>
              </a:ext>
            </a:extLst>
          </p:cNvPr>
          <p:cNvSpPr/>
          <p:nvPr/>
        </p:nvSpPr>
        <p:spPr>
          <a:xfrm>
            <a:off x="1152652" y="2423046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B1598A-076A-E7E3-6C25-6B50D20B8D0F}"/>
              </a:ext>
            </a:extLst>
          </p:cNvPr>
          <p:cNvSpPr/>
          <p:nvPr/>
        </p:nvSpPr>
        <p:spPr>
          <a:xfrm>
            <a:off x="8161808" y="2554764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C38ABE-0B93-B13A-5D8C-E33FA6620590}"/>
              </a:ext>
            </a:extLst>
          </p:cNvPr>
          <p:cNvSpPr/>
          <p:nvPr/>
        </p:nvSpPr>
        <p:spPr>
          <a:xfrm>
            <a:off x="4624861" y="4292035"/>
            <a:ext cx="170688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Charlie</a:t>
            </a:r>
          </a:p>
        </p:txBody>
      </p:sp>
      <p:pic>
        <p:nvPicPr>
          <p:cNvPr id="18" name="Graphic 17" descr="Devil face outline with solid fill">
            <a:extLst>
              <a:ext uri="{FF2B5EF4-FFF2-40B4-BE49-F238E27FC236}">
                <a16:creationId xmlns:a16="http://schemas.microsoft.com/office/drawing/2014/main" id="{37A7B4D3-5AAE-44D8-435D-F29940C29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1077" y="2939246"/>
            <a:ext cx="1078558" cy="107855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06125B-E9FD-092C-2075-EDD0A44FB8BA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>
            <a:off x="2859532" y="3154566"/>
            <a:ext cx="2031545" cy="323959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BF329F-A364-E788-C0C9-E244349B2D73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 flipV="1">
            <a:off x="5969635" y="3286284"/>
            <a:ext cx="2192173" cy="192241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AB949C2-0BD5-64A1-6BF1-67A2F93760F2}"/>
              </a:ext>
            </a:extLst>
          </p:cNvPr>
          <p:cNvSpPr/>
          <p:nvPr/>
        </p:nvSpPr>
        <p:spPr>
          <a:xfrm>
            <a:off x="2875152" y="2979306"/>
            <a:ext cx="1000152" cy="350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 Bob!</a:t>
            </a:r>
          </a:p>
        </p:txBody>
      </p:sp>
      <p:sp>
        <p:nvSpPr>
          <p:cNvPr id="37" name="Cloud Callout 36">
            <a:extLst>
              <a:ext uri="{FF2B5EF4-FFF2-40B4-BE49-F238E27FC236}">
                <a16:creationId xmlns:a16="http://schemas.microsoft.com/office/drawing/2014/main" id="{68FB2876-E548-9BD1-A649-F0EF250DA9DF}"/>
              </a:ext>
            </a:extLst>
          </p:cNvPr>
          <p:cNvSpPr/>
          <p:nvPr/>
        </p:nvSpPr>
        <p:spPr>
          <a:xfrm>
            <a:off x="5721565" y="782796"/>
            <a:ext cx="4147123" cy="1675289"/>
          </a:xfrm>
          <a:prstGeom prst="cloudCallout">
            <a:avLst>
              <a:gd name="adj1" fmla="val -43813"/>
              <a:gd name="adj2" fmla="val 74770"/>
            </a:avLst>
          </a:prstGeom>
          <a:solidFill>
            <a:srgbClr val="C00000"/>
          </a:solidFill>
          <a:ln>
            <a:solidFill>
              <a:srgbClr val="7F0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9FF8D5-8B86-A15A-3019-BAB5FCCDB0AC}"/>
              </a:ext>
            </a:extLst>
          </p:cNvPr>
          <p:cNvSpPr txBox="1"/>
          <p:nvPr/>
        </p:nvSpPr>
        <p:spPr>
          <a:xfrm>
            <a:off x="6467981" y="1620440"/>
            <a:ext cx="96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“sucks”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EA12D1-DEA7-E1E3-35B3-238F65879788}"/>
              </a:ext>
            </a:extLst>
          </p:cNvPr>
          <p:cNvSpPr txBox="1"/>
          <p:nvPr/>
        </p:nvSpPr>
        <p:spPr>
          <a:xfrm>
            <a:off x="7321919" y="1016952"/>
            <a:ext cx="93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“agree”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266D95-5AC7-04BF-F782-8E377EAF4220}"/>
              </a:ext>
            </a:extLst>
          </p:cNvPr>
          <p:cNvSpPr txBox="1"/>
          <p:nvPr/>
        </p:nvSpPr>
        <p:spPr>
          <a:xfrm>
            <a:off x="8472808" y="173898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...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D1BA60-CC62-F5C7-712A-0ADAE332EE12}"/>
              </a:ext>
            </a:extLst>
          </p:cNvPr>
          <p:cNvSpPr txBox="1"/>
          <p:nvPr/>
        </p:nvSpPr>
        <p:spPr>
          <a:xfrm>
            <a:off x="7241407" y="424777"/>
            <a:ext cx="134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Knowledge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D4864-0A9B-BF96-FA60-A2C0BE6BFF04}"/>
              </a:ext>
            </a:extLst>
          </p:cNvPr>
          <p:cNvSpPr txBox="1"/>
          <p:nvPr/>
        </p:nvSpPr>
        <p:spPr>
          <a:xfrm>
            <a:off x="7678434" y="147332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“Hi Bob!”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581F1FC-0355-5E17-9071-89E65801F0B9}"/>
              </a:ext>
            </a:extLst>
          </p:cNvPr>
          <p:cNvSpPr/>
          <p:nvPr/>
        </p:nvSpPr>
        <p:spPr>
          <a:xfrm>
            <a:off x="5906849" y="3224684"/>
            <a:ext cx="1267026" cy="350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Bob sucks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3468D6-A7A4-64FE-C8AC-FE26BB153184}"/>
              </a:ext>
            </a:extLst>
          </p:cNvPr>
          <p:cNvSpPr txBox="1"/>
          <p:nvPr/>
        </p:nvSpPr>
        <p:spPr>
          <a:xfrm>
            <a:off x="6467981" y="1620440"/>
            <a:ext cx="96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“sucks”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DA9A6F-2906-4F0A-F5F4-3F7E93702542}"/>
              </a:ext>
            </a:extLst>
          </p:cNvPr>
          <p:cNvSpPr txBox="1"/>
          <p:nvPr/>
        </p:nvSpPr>
        <p:spPr>
          <a:xfrm>
            <a:off x="7678434" y="1471257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“Hi Bob!”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BA4503-BDBB-8320-B54C-F19F914297B2}"/>
              </a:ext>
            </a:extLst>
          </p:cNvPr>
          <p:cNvSpPr txBox="1"/>
          <p:nvPr/>
        </p:nvSpPr>
        <p:spPr>
          <a:xfrm>
            <a:off x="7685162" y="4275270"/>
            <a:ext cx="45525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Attacker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Learn sent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Derive new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Deliver known messages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63471-D2D7-4141-7AAA-65F4EBA9B61E}"/>
              </a:ext>
            </a:extLst>
          </p:cNvPr>
          <p:cNvSpPr txBox="1"/>
          <p:nvPr/>
        </p:nvSpPr>
        <p:spPr>
          <a:xfrm>
            <a:off x="6977372" y="1978459"/>
            <a:ext cx="141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“Bob sucks”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2F148-60A9-DA66-1D35-D2979205D331}"/>
              </a:ext>
            </a:extLst>
          </p:cNvPr>
          <p:cNvSpPr txBox="1"/>
          <p:nvPr/>
        </p:nvSpPr>
        <p:spPr>
          <a:xfrm>
            <a:off x="6977372" y="1978459"/>
            <a:ext cx="141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“Bob sucks”</a:t>
            </a:r>
          </a:p>
        </p:txBody>
      </p:sp>
    </p:spTree>
    <p:extLst>
      <p:ext uri="{BB962C8B-B14F-4D97-AF65-F5344CB8AC3E}">
        <p14:creationId xmlns:p14="http://schemas.microsoft.com/office/powerpoint/2010/main" val="410859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61 0.03334 " pathEditMode="relative" ptsTypes="AA">
                                      <p:cBhvr>
                                        <p:cTn id="1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81481E-6 L -0.07526 0.0673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63" y="335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44444E-6 L 0.09063 0.05394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22222E-6 L -0.09388 0.18032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01" y="9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976 -0.02083 " pathEditMode="relative" ptsTypes="AA">
                                      <p:cBhvr>
                                        <p:cTn id="6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35" grpId="1" animBg="1"/>
      <p:bldP spid="35" grpId="2" animBg="1"/>
      <p:bldP spid="42" grpId="0"/>
      <p:bldP spid="43" grpId="0" animBg="1"/>
      <p:bldP spid="43" grpId="1" animBg="1"/>
      <p:bldP spid="52" grpId="0"/>
      <p:bldP spid="52" grpId="1"/>
      <p:bldP spid="52" grpId="2"/>
      <p:bldP spid="55" grpId="0"/>
      <p:bldP spid="55" grpId="1"/>
      <p:bldP spid="55" grpId="2"/>
      <p:bldP spid="4" grpId="0"/>
      <p:bldP spid="7" grpId="1"/>
      <p:bldP spid="7" grpId="2"/>
      <p:bldP spid="7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0BB0-A617-3B6C-5C54-56CD042E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91" y="381332"/>
            <a:ext cx="11661913" cy="1325563"/>
          </a:xfrm>
        </p:spPr>
        <p:txBody>
          <a:bodyPr/>
          <a:lstStyle/>
          <a:p>
            <a:r>
              <a:rPr lang="en-US" dirty="0"/>
              <a:t>Putting it all together: adversarial reactive protocols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86F649-2744-3353-81FF-E47F1BF2521C}"/>
                  </a:ext>
                </a:extLst>
              </p:cNvPr>
              <p:cNvSpPr txBox="1"/>
              <p:nvPr/>
            </p:nvSpPr>
            <p:spPr>
              <a:xfrm>
                <a:off x="838200" y="1953523"/>
                <a:ext cx="10453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System state = Knowledge (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Incoming messages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Protocol state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86F649-2744-3353-81FF-E47F1BF25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53523"/>
                <a:ext cx="10453952" cy="461665"/>
              </a:xfrm>
              <a:prstGeom prst="rect">
                <a:avLst/>
              </a:prstGeom>
              <a:blipFill>
                <a:blip r:embed="rId2"/>
                <a:stretch>
                  <a:fillRect l="-97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F6130D-2179-905C-FEBE-085762311FAF}"/>
                  </a:ext>
                </a:extLst>
              </p:cNvPr>
              <p:cNvSpPr txBox="1"/>
              <p:nvPr/>
            </p:nvSpPr>
            <p:spPr>
              <a:xfrm>
                <a:off x="5611030" y="4183228"/>
                <a:ext cx="5083956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h𝑎𝑛𝑛𝑒𝑙</m:t>
                          </m:r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’,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F6130D-2179-905C-FEBE-085762311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030" y="4183228"/>
                <a:ext cx="5083956" cy="503599"/>
              </a:xfrm>
              <a:prstGeom prst="rect">
                <a:avLst/>
              </a:prstGeom>
              <a:blipFill>
                <a:blip r:embed="rId3"/>
                <a:stretch>
                  <a:fillRect l="-998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F5DDA-6408-450E-ED04-D3902138A042}"/>
                  </a:ext>
                </a:extLst>
              </p:cNvPr>
              <p:cNvSpPr txBox="1"/>
              <p:nvPr/>
            </p:nvSpPr>
            <p:spPr>
              <a:xfrm>
                <a:off x="5554630" y="3691033"/>
                <a:ext cx="5208883" cy="555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</m:t>
                          </m:r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’,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F5DDA-6408-450E-ED04-D3902138A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630" y="3691033"/>
                <a:ext cx="5208883" cy="555921"/>
              </a:xfrm>
              <a:prstGeom prst="rect">
                <a:avLst/>
              </a:prstGeom>
              <a:blipFill>
                <a:blip r:embed="rId4"/>
                <a:stretch>
                  <a:fillRect l="-243" t="-8889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8E6C60-A566-934F-597A-BA5D06FE93F5}"/>
                  </a:ext>
                </a:extLst>
              </p:cNvPr>
              <p:cNvSpPr txBox="1"/>
              <p:nvPr/>
            </p:nvSpPr>
            <p:spPr>
              <a:xfrm>
                <a:off x="5611030" y="5030960"/>
                <a:ext cx="5970737" cy="542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𝑠𝑒𝑛𝑑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↦∪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8E6C60-A566-934F-597A-BA5D06FE9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030" y="5030960"/>
                <a:ext cx="5970737" cy="542008"/>
              </a:xfrm>
              <a:prstGeom prst="rect">
                <a:avLst/>
              </a:prstGeom>
              <a:blipFill>
                <a:blip r:embed="rId5"/>
                <a:stretch>
                  <a:fillRect l="-636" t="-6977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30027B-41B5-8245-1066-FC77263BBB8B}"/>
                  </a:ext>
                </a:extLst>
              </p:cNvPr>
              <p:cNvSpPr txBox="1"/>
              <p:nvPr/>
            </p:nvSpPr>
            <p:spPr>
              <a:xfrm>
                <a:off x="5610645" y="5498321"/>
                <a:ext cx="6056145" cy="606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erive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</m:bar>
                            </m:e>
                          </m:d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ba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30027B-41B5-8245-1066-FC77263B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645" y="5498321"/>
                <a:ext cx="6056145" cy="606705"/>
              </a:xfrm>
              <a:prstGeom prst="rect">
                <a:avLst/>
              </a:prstGeom>
              <a:blipFill>
                <a:blip r:embed="rId6"/>
                <a:stretch>
                  <a:fillRect l="-628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8E1B002-856C-648C-2914-CE162093AAA0}"/>
              </a:ext>
            </a:extLst>
          </p:cNvPr>
          <p:cNvSpPr txBox="1"/>
          <p:nvPr/>
        </p:nvSpPr>
        <p:spPr>
          <a:xfrm>
            <a:off x="860927" y="3730796"/>
            <a:ext cx="395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Protocol internal transitions: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02FEB-3AC4-050B-BA7C-7A8A85859B3A}"/>
              </a:ext>
            </a:extLst>
          </p:cNvPr>
          <p:cNvSpPr txBox="1"/>
          <p:nvPr/>
        </p:nvSpPr>
        <p:spPr>
          <a:xfrm>
            <a:off x="860927" y="4216835"/>
            <a:ext cx="4410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Protocol observable transitions: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810830-991A-185F-2338-36E7FD295F24}"/>
              </a:ext>
            </a:extLst>
          </p:cNvPr>
          <p:cNvSpPr txBox="1"/>
          <p:nvPr/>
        </p:nvSpPr>
        <p:spPr>
          <a:xfrm>
            <a:off x="860927" y="5036656"/>
            <a:ext cx="355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Adversary send message: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E5683-96D3-A430-9A8F-D67BA2B73642}"/>
              </a:ext>
            </a:extLst>
          </p:cNvPr>
          <p:cNvSpPr txBox="1"/>
          <p:nvPr/>
        </p:nvSpPr>
        <p:spPr>
          <a:xfrm>
            <a:off x="860927" y="5509627"/>
            <a:ext cx="3759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Adversary derive new term: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6ABAEB-4888-EDCC-ECBF-9DA146962C6D}"/>
              </a:ext>
            </a:extLst>
          </p:cNvPr>
          <p:cNvSpPr txBox="1"/>
          <p:nvPr/>
        </p:nvSpPr>
        <p:spPr>
          <a:xfrm>
            <a:off x="4465246" y="2907027"/>
            <a:ext cx="3137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Concrete Semantics: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7C04C6-4A16-3EC5-7F5E-2D82EBCD0AFD}"/>
              </a:ext>
            </a:extLst>
          </p:cNvPr>
          <p:cNvSpPr/>
          <p:nvPr/>
        </p:nvSpPr>
        <p:spPr>
          <a:xfrm>
            <a:off x="718907" y="2887800"/>
            <a:ext cx="10947883" cy="3330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1AE76C-A1AC-0907-F998-C23F360E85BC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862320" y="3536544"/>
            <a:ext cx="97479" cy="313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2E49DE-D1D1-E48A-DC99-34E6F0386E98}"/>
              </a:ext>
            </a:extLst>
          </p:cNvPr>
          <p:cNvSpPr txBox="1"/>
          <p:nvPr/>
        </p:nvSpPr>
        <p:spPr>
          <a:xfrm>
            <a:off x="5959799" y="3351878"/>
            <a:ext cx="556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Adversary capabilities (term constructors/destructors)</a:t>
            </a:r>
          </a:p>
        </p:txBody>
      </p:sp>
    </p:spTree>
    <p:extLst>
      <p:ext uri="{BB962C8B-B14F-4D97-AF65-F5344CB8AC3E}">
        <p14:creationId xmlns:p14="http://schemas.microsoft.com/office/powerpoint/2010/main" val="205131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4A69-9F57-8D1D-FF8D-82541BCF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C47C-12A4-6687-BB57-086133EF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Roadmap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58A17-6329-151C-C56A-380A7471C9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38200" y="2683347"/>
            <a:ext cx="3774790" cy="187149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B7F5B2-0B0E-430E-A327-22587F07D9EC}"/>
              </a:ext>
            </a:extLst>
          </p:cNvPr>
          <p:cNvSpPr txBox="1"/>
          <p:nvPr/>
        </p:nvSpPr>
        <p:spPr>
          <a:xfrm>
            <a:off x="512807" y="4868561"/>
            <a:ext cx="4607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Modeling Adversaries &amp; Protocols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A5B896-E718-9C2E-2D0A-5F8478F2D70D}"/>
              </a:ext>
            </a:extLst>
          </p:cNvPr>
          <p:cNvGrpSpPr/>
          <p:nvPr/>
        </p:nvGrpSpPr>
        <p:grpSpPr>
          <a:xfrm>
            <a:off x="6660292" y="3150973"/>
            <a:ext cx="4306330" cy="809368"/>
            <a:chOff x="6660292" y="3150973"/>
            <a:chExt cx="4306330" cy="8093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5969CE-1226-2E75-5477-AF3554D14E25}"/>
                    </a:ext>
                  </a:extLst>
                </p:cNvPr>
                <p:cNvSpPr txBox="1"/>
                <p:nvPr/>
              </p:nvSpPr>
              <p:spPr>
                <a:xfrm>
                  <a:off x="6824394" y="3309396"/>
                  <a:ext cx="4051943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∷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 ∘| 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𝜅</m:t>
                            </m:r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5969CE-1226-2E75-5477-AF3554D14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4394" y="3309396"/>
                  <a:ext cx="4051943" cy="492443"/>
                </a:xfrm>
                <a:prstGeom prst="rect">
                  <a:avLst/>
                </a:prstGeom>
                <a:blipFill>
                  <a:blip r:embed="rId4"/>
                  <a:stretch>
                    <a:fillRect l="-1875" t="-7500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B027ED-C884-1200-5BAD-E942E04FEC4F}"/>
                </a:ext>
              </a:extLst>
            </p:cNvPr>
            <p:cNvSpPr/>
            <p:nvPr/>
          </p:nvSpPr>
          <p:spPr>
            <a:xfrm>
              <a:off x="6660292" y="3150973"/>
              <a:ext cx="4306330" cy="8093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C259F59-D4C0-0276-0FC5-DBA9CE8F6304}"/>
              </a:ext>
            </a:extLst>
          </p:cNvPr>
          <p:cNvSpPr txBox="1"/>
          <p:nvPr/>
        </p:nvSpPr>
        <p:spPr>
          <a:xfrm>
            <a:off x="7394229" y="4868561"/>
            <a:ext cx="2912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Collected Properties</a:t>
            </a:r>
          </a:p>
        </p:txBody>
      </p:sp>
    </p:spTree>
    <p:extLst>
      <p:ext uri="{BB962C8B-B14F-4D97-AF65-F5344CB8AC3E}">
        <p14:creationId xmlns:p14="http://schemas.microsoft.com/office/powerpoint/2010/main" val="3464791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2510-50DF-A31B-9ECF-ED3A8F6F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we would like to verify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8545A-DE8A-603E-5FE2-2ECAE360D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Secrecy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Adversarial equivalence</a:t>
            </a:r>
          </a:p>
        </p:txBody>
      </p:sp>
      <p:pic>
        <p:nvPicPr>
          <p:cNvPr id="4" name="Graphic 3" descr="Devil face outline with solid fill">
            <a:extLst>
              <a:ext uri="{FF2B5EF4-FFF2-40B4-BE49-F238E27FC236}">
                <a16:creationId xmlns:a16="http://schemas.microsoft.com/office/drawing/2014/main" id="{9DD0302B-7C13-DDC4-0BA0-303DB312A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0322" y="2500008"/>
            <a:ext cx="709032" cy="709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loud Callout 4">
                <a:extLst>
                  <a:ext uri="{FF2B5EF4-FFF2-40B4-BE49-F238E27FC236}">
                    <a16:creationId xmlns:a16="http://schemas.microsoft.com/office/drawing/2014/main" id="{BE9C9935-B01E-3B8A-5F90-ABC6A5DA14D2}"/>
                  </a:ext>
                </a:extLst>
              </p:cNvPr>
              <p:cNvSpPr/>
              <p:nvPr/>
            </p:nvSpPr>
            <p:spPr>
              <a:xfrm>
                <a:off x="7592307" y="1607664"/>
                <a:ext cx="1986455" cy="1065782"/>
              </a:xfrm>
              <a:prstGeom prst="cloudCallout">
                <a:avLst>
                  <a:gd name="adj1" fmla="val -53035"/>
                  <a:gd name="adj2" fmla="val 47708"/>
                </a:avLst>
              </a:prstGeom>
              <a:solidFill>
                <a:srgbClr val="C00000"/>
              </a:solidFill>
              <a:ln>
                <a:solidFill>
                  <a:srgbClr val="7F00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Knowledge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Cloud Callout 4">
                <a:extLst>
                  <a:ext uri="{FF2B5EF4-FFF2-40B4-BE49-F238E27FC236}">
                    <a16:creationId xmlns:a16="http://schemas.microsoft.com/office/drawing/2014/main" id="{BE9C9935-B01E-3B8A-5F90-ABC6A5DA14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307" y="1607664"/>
                <a:ext cx="1986455" cy="1065782"/>
              </a:xfrm>
              <a:prstGeom prst="cloudCallout">
                <a:avLst>
                  <a:gd name="adj1" fmla="val -53035"/>
                  <a:gd name="adj2" fmla="val 47708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7F000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8A0B97-0839-CC87-D523-1DDF5F312082}"/>
                  </a:ext>
                </a:extLst>
              </p:cNvPr>
              <p:cNvSpPr txBox="1"/>
              <p:nvPr/>
            </p:nvSpPr>
            <p:spPr>
              <a:xfrm>
                <a:off x="4326851" y="2336047"/>
                <a:ext cx="18194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𝑚𝑒𝑠𝑠𝑎𝑔𝑒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8A0B97-0839-CC87-D523-1DDF5F312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851" y="2336047"/>
                <a:ext cx="1819409" cy="369332"/>
              </a:xfrm>
              <a:prstGeom prst="rect">
                <a:avLst/>
              </a:prstGeom>
              <a:blipFill>
                <a:blip r:embed="rId6"/>
                <a:stretch>
                  <a:fillRect l="-5556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7CEE5CA-D7B1-6B4B-DD9B-9D0754450EB4}"/>
              </a:ext>
            </a:extLst>
          </p:cNvPr>
          <p:cNvGrpSpPr/>
          <p:nvPr/>
        </p:nvGrpSpPr>
        <p:grpSpPr>
          <a:xfrm>
            <a:off x="2113861" y="4099773"/>
            <a:ext cx="2678979" cy="977028"/>
            <a:chOff x="5771338" y="4446310"/>
            <a:chExt cx="2678979" cy="977028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0241349-F54D-47C5-33A2-754FD159F3F8}"/>
                </a:ext>
              </a:extLst>
            </p:cNvPr>
            <p:cNvSpPr/>
            <p:nvPr/>
          </p:nvSpPr>
          <p:spPr>
            <a:xfrm>
              <a:off x="7118143" y="4657948"/>
              <a:ext cx="1243366" cy="5923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Protocol 1</a:t>
              </a:r>
            </a:p>
          </p:txBody>
        </p:sp>
        <p:pic>
          <p:nvPicPr>
            <p:cNvPr id="11" name="Graphic 10" descr="Devil face outline with solid fill">
              <a:extLst>
                <a:ext uri="{FF2B5EF4-FFF2-40B4-BE49-F238E27FC236}">
                  <a16:creationId xmlns:a16="http://schemas.microsoft.com/office/drawing/2014/main" id="{C3F4EB00-9591-1662-4E43-54EF1745C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65514" y="4663044"/>
              <a:ext cx="709032" cy="70903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D83712E-4EE2-521B-CF0D-FE217DEADF59}"/>
                    </a:ext>
                  </a:extLst>
                </p:cNvPr>
                <p:cNvSpPr txBox="1"/>
                <p:nvPr/>
              </p:nvSpPr>
              <p:spPr>
                <a:xfrm>
                  <a:off x="6553886" y="4446310"/>
                  <a:ext cx="514564" cy="9233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D83712E-4EE2-521B-CF0D-FE217DEADF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886" y="4446310"/>
                  <a:ext cx="514564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41463" r="-41463" b="-178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B93535-5CCC-A003-2487-32DC6D6352E9}"/>
                </a:ext>
              </a:extLst>
            </p:cNvPr>
            <p:cNvSpPr/>
            <p:nvPr/>
          </p:nvSpPr>
          <p:spPr>
            <a:xfrm>
              <a:off x="5771338" y="4500008"/>
              <a:ext cx="2678979" cy="92333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22E064-A932-A6F5-F1E2-245E967BFB57}"/>
              </a:ext>
            </a:extLst>
          </p:cNvPr>
          <p:cNvGrpSpPr/>
          <p:nvPr/>
        </p:nvGrpSpPr>
        <p:grpSpPr>
          <a:xfrm>
            <a:off x="7845758" y="4095978"/>
            <a:ext cx="2678979" cy="977028"/>
            <a:chOff x="5771338" y="4446310"/>
            <a:chExt cx="2678979" cy="977028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EB2FFEE-07C5-E432-9EA0-DEBA19ABCC0F}"/>
                </a:ext>
              </a:extLst>
            </p:cNvPr>
            <p:cNvSpPr/>
            <p:nvPr/>
          </p:nvSpPr>
          <p:spPr>
            <a:xfrm>
              <a:off x="7118143" y="4657948"/>
              <a:ext cx="1243366" cy="5923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Protocol 2</a:t>
              </a:r>
            </a:p>
          </p:txBody>
        </p:sp>
        <p:pic>
          <p:nvPicPr>
            <p:cNvPr id="17" name="Graphic 16" descr="Devil face outline with solid fill">
              <a:extLst>
                <a:ext uri="{FF2B5EF4-FFF2-40B4-BE49-F238E27FC236}">
                  <a16:creationId xmlns:a16="http://schemas.microsoft.com/office/drawing/2014/main" id="{E4844327-15A9-C38E-6718-A95AFA0CE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65514" y="4663044"/>
              <a:ext cx="709032" cy="70903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C3C53B4-51BD-3AF0-27B3-FA5161B64ACD}"/>
                    </a:ext>
                  </a:extLst>
                </p:cNvPr>
                <p:cNvSpPr txBox="1"/>
                <p:nvPr/>
              </p:nvSpPr>
              <p:spPr>
                <a:xfrm>
                  <a:off x="6553886" y="4446310"/>
                  <a:ext cx="514564" cy="9233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C3C53B4-51BD-3AF0-27B3-FA5161B64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886" y="4446310"/>
                  <a:ext cx="514564" cy="923330"/>
                </a:xfrm>
                <a:prstGeom prst="rect">
                  <a:avLst/>
                </a:prstGeom>
                <a:blipFill>
                  <a:blip r:embed="rId8"/>
                  <a:stretch>
                    <a:fillRect l="-41463" r="-41463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C29FA9D-BEA5-09CF-6423-537ECBC700C1}"/>
                </a:ext>
              </a:extLst>
            </p:cNvPr>
            <p:cNvSpPr/>
            <p:nvPr/>
          </p:nvSpPr>
          <p:spPr>
            <a:xfrm>
              <a:off x="5771338" y="4500008"/>
              <a:ext cx="2678979" cy="92333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Horizontal Scroll 24">
            <a:extLst>
              <a:ext uri="{FF2B5EF4-FFF2-40B4-BE49-F238E27FC236}">
                <a16:creationId xmlns:a16="http://schemas.microsoft.com/office/drawing/2014/main" id="{44A1F591-4CE1-EA1C-C91A-270FD92707E2}"/>
              </a:ext>
            </a:extLst>
          </p:cNvPr>
          <p:cNvSpPr/>
          <p:nvPr/>
        </p:nvSpPr>
        <p:spPr>
          <a:xfrm>
            <a:off x="963025" y="5772771"/>
            <a:ext cx="2041706" cy="808383"/>
          </a:xfrm>
          <a:prstGeom prst="horizontalScroll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Observations X</a:t>
            </a:r>
          </a:p>
        </p:txBody>
      </p:sp>
      <p:sp>
        <p:nvSpPr>
          <p:cNvPr id="26" name="Horizontal Scroll 25">
            <a:extLst>
              <a:ext uri="{FF2B5EF4-FFF2-40B4-BE49-F238E27FC236}">
                <a16:creationId xmlns:a16="http://schemas.microsoft.com/office/drawing/2014/main" id="{AD982AAD-13C8-B4AE-F63C-DEEC1DF3AEAA}"/>
              </a:ext>
            </a:extLst>
          </p:cNvPr>
          <p:cNvSpPr/>
          <p:nvPr/>
        </p:nvSpPr>
        <p:spPr>
          <a:xfrm>
            <a:off x="6939278" y="5771431"/>
            <a:ext cx="2041706" cy="808383"/>
          </a:xfrm>
          <a:prstGeom prst="horizontalScroll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Observations X’</a:t>
            </a:r>
          </a:p>
        </p:txBody>
      </p:sp>
      <p:sp>
        <p:nvSpPr>
          <p:cNvPr id="27" name="Horizontal Scroll 26">
            <a:extLst>
              <a:ext uri="{FF2B5EF4-FFF2-40B4-BE49-F238E27FC236}">
                <a16:creationId xmlns:a16="http://schemas.microsoft.com/office/drawing/2014/main" id="{CD882B57-58C4-7432-2D0C-AB79D1BD68E2}"/>
              </a:ext>
            </a:extLst>
          </p:cNvPr>
          <p:cNvSpPr/>
          <p:nvPr/>
        </p:nvSpPr>
        <p:spPr>
          <a:xfrm>
            <a:off x="3460666" y="5764372"/>
            <a:ext cx="2041706" cy="808383"/>
          </a:xfrm>
          <a:prstGeom prst="horizontalScroll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Observations Y’</a:t>
            </a:r>
          </a:p>
        </p:txBody>
      </p:sp>
      <p:sp>
        <p:nvSpPr>
          <p:cNvPr id="28" name="Horizontal Scroll 27">
            <a:extLst>
              <a:ext uri="{FF2B5EF4-FFF2-40B4-BE49-F238E27FC236}">
                <a16:creationId xmlns:a16="http://schemas.microsoft.com/office/drawing/2014/main" id="{0A9DB85C-B536-66EA-C61B-80A1732E5B72}"/>
              </a:ext>
            </a:extLst>
          </p:cNvPr>
          <p:cNvSpPr/>
          <p:nvPr/>
        </p:nvSpPr>
        <p:spPr>
          <a:xfrm>
            <a:off x="9436919" y="5710808"/>
            <a:ext cx="2041706" cy="808383"/>
          </a:xfrm>
          <a:prstGeom prst="horizontalScroll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Observations 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DDB56D-9E51-671C-A459-DE6D1EAC0503}"/>
              </a:ext>
            </a:extLst>
          </p:cNvPr>
          <p:cNvCxnSpPr>
            <a:endCxn id="25" idx="0"/>
          </p:cNvCxnSpPr>
          <p:nvPr/>
        </p:nvCxnSpPr>
        <p:spPr>
          <a:xfrm flipH="1">
            <a:off x="1983878" y="5061528"/>
            <a:ext cx="933191" cy="8122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AAA619-8B7D-67DB-8CF2-90613035AEDC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3937922" y="5076801"/>
            <a:ext cx="543597" cy="7886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9C3746-71A8-4A38-ACDD-FA43F9AD2940}"/>
              </a:ext>
            </a:extLst>
          </p:cNvPr>
          <p:cNvCxnSpPr/>
          <p:nvPr/>
        </p:nvCxnSpPr>
        <p:spPr>
          <a:xfrm flipH="1">
            <a:off x="7983113" y="5073006"/>
            <a:ext cx="933191" cy="8122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F996A3F-6DC4-5148-E7E7-0568318B5933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9937157" y="5088279"/>
            <a:ext cx="520615" cy="7235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F4F84D-3535-A401-3C92-B2D258FEFCAD}"/>
                  </a:ext>
                </a:extLst>
              </p:cNvPr>
              <p:cNvSpPr txBox="1"/>
              <p:nvPr/>
            </p:nvSpPr>
            <p:spPr>
              <a:xfrm>
                <a:off x="5706370" y="5575457"/>
                <a:ext cx="105189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F4F84D-3535-A401-3C92-B2D258FEF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70" y="5575457"/>
                <a:ext cx="1051891" cy="1200329"/>
              </a:xfrm>
              <a:prstGeom prst="rect">
                <a:avLst/>
              </a:prstGeom>
              <a:blipFill>
                <a:blip r:embed="rId9"/>
                <a:stretch>
                  <a:fillRect l="-3571" r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E5EDB5B-0BE4-572D-B627-99C881DF3B91}"/>
              </a:ext>
            </a:extLst>
          </p:cNvPr>
          <p:cNvSpPr txBox="1"/>
          <p:nvPr/>
        </p:nvSpPr>
        <p:spPr>
          <a:xfrm>
            <a:off x="4505284" y="5630496"/>
            <a:ext cx="8643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ambria Math" panose="02040503050406030204" pitchFamily="18" charset="0"/>
                <a:ea typeface="Cambria Math" panose="02040503050406030204" pitchFamily="18" charset="0"/>
              </a:rPr>
              <a:t>≈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83305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6" grpId="2"/>
      <p:bldP spid="20" grpId="0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20B024-7623-4738-F93B-548E0EBB23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365125"/>
                <a:ext cx="10942320" cy="1325563"/>
              </a:xfrm>
            </p:spPr>
            <p:txBody>
              <a:bodyPr/>
              <a:lstStyle/>
              <a:p>
                <a:r>
                  <a:rPr lang="en-US" dirty="0"/>
                  <a:t>Aside: indistinguishability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) is not equality (=)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20B024-7623-4738-F93B-548E0EBB2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365125"/>
                <a:ext cx="10942320" cy="1325563"/>
              </a:xfrm>
              <a:blipFill>
                <a:blip r:embed="rId2"/>
                <a:stretch>
                  <a:fillRect l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4E964DD-A8B5-88A0-E589-64F1625619D5}"/>
              </a:ext>
            </a:extLst>
          </p:cNvPr>
          <p:cNvSpPr txBox="1"/>
          <p:nvPr/>
        </p:nvSpPr>
        <p:spPr>
          <a:xfrm>
            <a:off x="2377440" y="1873839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“Hello!”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0C17F-F895-3F76-3C75-44BF2F1EB32E}"/>
              </a:ext>
            </a:extLst>
          </p:cNvPr>
          <p:cNvSpPr txBox="1"/>
          <p:nvPr/>
        </p:nvSpPr>
        <p:spPr>
          <a:xfrm>
            <a:off x="7477760" y="1873839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“Adios!”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0B038-FF03-3646-893E-95737D50E751}"/>
              </a:ext>
            </a:extLst>
          </p:cNvPr>
          <p:cNvSpPr txBox="1"/>
          <p:nvPr/>
        </p:nvSpPr>
        <p:spPr>
          <a:xfrm>
            <a:off x="3028489" y="4032725"/>
            <a:ext cx="5413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b55e47d429908ebd098e90e16f86488a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0FD7EC-7391-9A28-9AC2-6A174AC93076}"/>
              </a:ext>
            </a:extLst>
          </p:cNvPr>
          <p:cNvGrpSpPr/>
          <p:nvPr/>
        </p:nvGrpSpPr>
        <p:grpSpPr>
          <a:xfrm>
            <a:off x="4643119" y="3221246"/>
            <a:ext cx="2184400" cy="415508"/>
            <a:chOff x="4632959" y="3261359"/>
            <a:chExt cx="2184400" cy="41550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A55DAA-6D3E-2984-2A00-768FDB13F8E9}"/>
                </a:ext>
              </a:extLst>
            </p:cNvPr>
            <p:cNvSpPr/>
            <p:nvPr/>
          </p:nvSpPr>
          <p:spPr>
            <a:xfrm>
              <a:off x="4632959" y="3280627"/>
              <a:ext cx="2184400" cy="3962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Encrypt</a:t>
              </a:r>
            </a:p>
          </p:txBody>
        </p:sp>
        <p:pic>
          <p:nvPicPr>
            <p:cNvPr id="8" name="Graphic 7" descr="Lock with solid fill">
              <a:extLst>
                <a:ext uri="{FF2B5EF4-FFF2-40B4-BE49-F238E27FC236}">
                  <a16:creationId xmlns:a16="http://schemas.microsoft.com/office/drawing/2014/main" id="{DD9B3E88-C1FA-D363-C2C3-C6D28768D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78399" y="3261359"/>
              <a:ext cx="375921" cy="375921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499199-78AC-A8B1-C613-3582C80D121D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5735319" y="3636754"/>
            <a:ext cx="1" cy="3959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9F188B-C997-C660-D6E9-53BAEC9F4EA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098150" y="2397059"/>
            <a:ext cx="1706362" cy="824187"/>
          </a:xfrm>
          <a:prstGeom prst="straightConnector1">
            <a:avLst/>
          </a:prstGeom>
          <a:ln w="38100"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C26B94-86EA-0D3D-1142-F24583E5BB29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664960" y="2397059"/>
            <a:ext cx="1544731" cy="824187"/>
          </a:xfrm>
          <a:prstGeom prst="straightConnector1">
            <a:avLst/>
          </a:prstGeom>
          <a:ln w="38100"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A8D35F-77FC-1FD4-2B6D-3C99BFF21021}"/>
              </a:ext>
            </a:extLst>
          </p:cNvPr>
          <p:cNvSpPr txBox="1"/>
          <p:nvPr/>
        </p:nvSpPr>
        <p:spPr>
          <a:xfrm>
            <a:off x="4110601" y="2160757"/>
            <a:ext cx="5325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8CA436-59B0-9DBB-6C35-BBA7C0BBC598}"/>
              </a:ext>
            </a:extLst>
          </p:cNvPr>
          <p:cNvSpPr txBox="1"/>
          <p:nvPr/>
        </p:nvSpPr>
        <p:spPr>
          <a:xfrm>
            <a:off x="6875292" y="2160757"/>
            <a:ext cx="5325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12C8CD-752C-92C2-6487-9FC72EEB4697}"/>
              </a:ext>
            </a:extLst>
          </p:cNvPr>
          <p:cNvSpPr txBox="1"/>
          <p:nvPr/>
        </p:nvSpPr>
        <p:spPr>
          <a:xfrm>
            <a:off x="838200" y="5010810"/>
            <a:ext cx="1071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Secure encryption leaks negligible info about the encrypted message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C7CA47-6775-C695-FB0E-DD8747B32E50}"/>
                  </a:ext>
                </a:extLst>
              </p:cNvPr>
              <p:cNvSpPr txBox="1"/>
              <p:nvPr/>
            </p:nvSpPr>
            <p:spPr>
              <a:xfrm>
                <a:off x="2452823" y="5668391"/>
                <a:ext cx="6564992" cy="674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/>
                  <a:t>In our model:</a:t>
                </a:r>
                <a:r>
                  <a:rPr lang="en-US" sz="2800" dirty="0">
                    <a:solidFill>
                      <a:schemeClr val="accent6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𝑒𝑛𝑐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)] ~ [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𝑒𝑛𝑐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sz="2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C7CA47-6775-C695-FB0E-DD8747B32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823" y="5668391"/>
                <a:ext cx="6564992" cy="674352"/>
              </a:xfrm>
              <a:prstGeom prst="rect">
                <a:avLst/>
              </a:prstGeom>
              <a:blipFill>
                <a:blip r:embed="rId5"/>
                <a:stretch>
                  <a:fillRect l="-1931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34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A5BE-A41D-2975-BCE1-A790C4E4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Collected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4A7C4F-477B-5008-C4E0-3057680E071E}"/>
                  </a:ext>
                </a:extLst>
              </p:cNvPr>
              <p:cNvSpPr txBox="1"/>
              <p:nvPr/>
            </p:nvSpPr>
            <p:spPr>
              <a:xfrm>
                <a:off x="6305410" y="2333212"/>
                <a:ext cx="40519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∷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∘|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4A7C4F-477B-5008-C4E0-3057680E0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410" y="2333212"/>
                <a:ext cx="4051943" cy="492443"/>
              </a:xfrm>
              <a:prstGeom prst="rect">
                <a:avLst/>
              </a:prstGeom>
              <a:blipFill>
                <a:blip r:embed="rId3"/>
                <a:stretch>
                  <a:fillRect l="-1875" t="-7500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0D1FAC-91C8-0364-9978-6FCD8C6C5B2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714929" y="2013853"/>
            <a:ext cx="792144" cy="483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1F46BA-6865-4394-CBCE-7E6A73CD393B}"/>
              </a:ext>
            </a:extLst>
          </p:cNvPr>
          <p:cNvSpPr txBox="1"/>
          <p:nvPr/>
        </p:nvSpPr>
        <p:spPr>
          <a:xfrm>
            <a:off x="6645277" y="1367522"/>
            <a:ext cx="2139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Observable effects</a:t>
            </a:r>
          </a:p>
          <a:p>
            <a:r>
              <a:rPr lang="en-US" dirty="0">
                <a:solidFill>
                  <a:schemeClr val="accent1"/>
                </a:solidFill>
              </a:rPr>
              <a:t>&amp; adversary actions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32BBAA-D195-FB59-B1A8-9F2F4CE5AF95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8996696" y="1711691"/>
            <a:ext cx="1360657" cy="785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F729B1-8956-A8A1-75BD-8FC443B6952D}"/>
              </a:ext>
            </a:extLst>
          </p:cNvPr>
          <p:cNvSpPr txBox="1"/>
          <p:nvPr/>
        </p:nvSpPr>
        <p:spPr>
          <a:xfrm>
            <a:off x="9203543" y="1342359"/>
            <a:ext cx="2307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Adversary Knowledge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DE8210-8AB5-FC9F-AF1C-DAFDEFFC1724}"/>
                  </a:ext>
                </a:extLst>
              </p:cNvPr>
              <p:cNvSpPr txBox="1"/>
              <p:nvPr/>
            </p:nvSpPr>
            <p:spPr>
              <a:xfrm>
                <a:off x="1419808" y="3631842"/>
                <a:ext cx="8879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Secrecy:            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_,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,_,_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,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𝑚𝑒𝑠𝑠𝑎𝑔𝑒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DE8210-8AB5-FC9F-AF1C-DAFDEFFC1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808" y="3631842"/>
                <a:ext cx="8879739" cy="584775"/>
              </a:xfrm>
              <a:prstGeom prst="rect">
                <a:avLst/>
              </a:prstGeom>
              <a:blipFill>
                <a:blip r:embed="rId4"/>
                <a:stretch>
                  <a:fillRect l="-1712" t="-14894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5E91E4-98D6-B6B0-6CCB-7090871B4337}"/>
                  </a:ext>
                </a:extLst>
              </p:cNvPr>
              <p:cNvSpPr txBox="1"/>
              <p:nvPr/>
            </p:nvSpPr>
            <p:spPr>
              <a:xfrm>
                <a:off x="1377679" y="4639193"/>
                <a:ext cx="9711056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Equivalence:    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,_,_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,</a:t>
                </a:r>
              </a:p>
              <a:p>
                <a:r>
                  <a:rPr lang="en-US" sz="3200" dirty="0"/>
                  <a:t>                                    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dirty="0"/>
              </a:p>
              <a:p>
                <a:r>
                  <a:rPr lang="en-US" sz="3200" dirty="0"/>
                  <a:t>                                   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,_,_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/>
                  <a:t>,</a:t>
                </a:r>
              </a:p>
              <a:p>
                <a:r>
                  <a:rPr lang="en-US" sz="3200" dirty="0"/>
                  <a:t>                                and vice versa</a:t>
                </a:r>
              </a:p>
              <a:p>
                <a:endParaRPr lang="en-US" sz="3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5E91E4-98D6-B6B0-6CCB-7090871B4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679" y="4639193"/>
                <a:ext cx="9711056" cy="2554545"/>
              </a:xfrm>
              <a:prstGeom prst="rect">
                <a:avLst/>
              </a:prstGeom>
              <a:blipFill>
                <a:blip r:embed="rId5"/>
                <a:stretch>
                  <a:fillRect l="-1567" t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DAF05A9C-3E94-AAD1-9A49-212DBA7F18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904" y="3631841"/>
            <a:ext cx="584775" cy="584775"/>
          </a:xfrm>
          <a:prstGeom prst="rect">
            <a:avLst/>
          </a:prstGeom>
        </p:spPr>
      </p:pic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C5931577-B6C9-6A11-786B-AE498C71C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904" y="4639193"/>
            <a:ext cx="584775" cy="5847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337C8F4-CBDF-B016-99BA-7BD28124A7F8}"/>
              </a:ext>
            </a:extLst>
          </p:cNvPr>
          <p:cNvSpPr txBox="1"/>
          <p:nvPr/>
        </p:nvSpPr>
        <p:spPr>
          <a:xfrm>
            <a:off x="1085291" y="2148940"/>
            <a:ext cx="41319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/>
              <a:t>Adversarial interaction </a:t>
            </a:r>
            <a:r>
              <a:rPr lang="en-US" sz="3200" dirty="0"/>
              <a:t>properties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C980C8-998F-05DD-9FC1-7B60C0742539}"/>
              </a:ext>
            </a:extLst>
          </p:cNvPr>
          <p:cNvCxnSpPr>
            <a:cxnSpLocks/>
          </p:cNvCxnSpPr>
          <p:nvPr/>
        </p:nvCxnSpPr>
        <p:spPr>
          <a:xfrm flipH="1" flipV="1">
            <a:off x="9488557" y="5632174"/>
            <a:ext cx="1153191" cy="431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B6809D8-C89D-48CD-401C-4EA3630790C0}"/>
              </a:ext>
            </a:extLst>
          </p:cNvPr>
          <p:cNvSpPr txBox="1"/>
          <p:nvPr/>
        </p:nvSpPr>
        <p:spPr>
          <a:xfrm>
            <a:off x="9203543" y="6064002"/>
            <a:ext cx="2876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Attacker cannot distinguish what it’s learned</a:t>
            </a:r>
          </a:p>
        </p:txBody>
      </p:sp>
    </p:spTree>
    <p:extLst>
      <p:ext uri="{BB962C8B-B14F-4D97-AF65-F5344CB8AC3E}">
        <p14:creationId xmlns:p14="http://schemas.microsoft.com/office/powerpoint/2010/main" val="91075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02BF-79C6-C884-DAE8-54B998BA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6AE4B-1699-95CC-919C-788CA0553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75854" cy="4351338"/>
          </a:xfrm>
        </p:spPr>
        <p:txBody>
          <a:bodyPr/>
          <a:lstStyle/>
          <a:p>
            <a:r>
              <a:rPr lang="en-US" dirty="0"/>
              <a:t>Attacker’s knowledge is unbounded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Learning new terms leads to deriving even more terms, so coarse abstractions quickly reach top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Manual proof burden is significant (kind of </a:t>
            </a:r>
            <a:r>
              <a:rPr lang="en-US" dirty="0" err="1"/>
              <a:t>bisimulation</a:t>
            </a:r>
            <a:r>
              <a:rPr lang="en-US" dirty="0"/>
              <a:t> relation)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BFE6A9-E194-4EE8-1F78-BE26C98EB10A}"/>
                  </a:ext>
                </a:extLst>
              </p:cNvPr>
              <p:cNvSpPr txBox="1"/>
              <p:nvPr/>
            </p:nvSpPr>
            <p:spPr>
              <a:xfrm>
                <a:off x="7522175" y="1825625"/>
                <a:ext cx="36663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𝑒𝑛𝑐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BFE6A9-E194-4EE8-1F78-BE26C98EB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75" y="1825625"/>
                <a:ext cx="3666388" cy="430887"/>
              </a:xfrm>
              <a:prstGeom prst="rect">
                <a:avLst/>
              </a:prstGeom>
              <a:blipFill>
                <a:blip r:embed="rId2"/>
                <a:stretch>
                  <a:fillRect l="-103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Lean - Microsoft Research">
            <a:extLst>
              <a:ext uri="{FF2B5EF4-FFF2-40B4-BE49-F238E27FC236}">
                <a16:creationId xmlns:a16="http://schemas.microsoft.com/office/drawing/2014/main" id="{D67EA990-79FE-5420-0922-7D8215EA2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363" y="4601489"/>
            <a:ext cx="1872915" cy="10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&quot;No&quot; Symbol 4">
            <a:extLst>
              <a:ext uri="{FF2B5EF4-FFF2-40B4-BE49-F238E27FC236}">
                <a16:creationId xmlns:a16="http://schemas.microsoft.com/office/drawing/2014/main" id="{33E1ECB2-1966-CBF5-D344-44E29B48BFAB}"/>
              </a:ext>
            </a:extLst>
          </p:cNvPr>
          <p:cNvSpPr/>
          <p:nvPr/>
        </p:nvSpPr>
        <p:spPr>
          <a:xfrm>
            <a:off x="8579112" y="4329082"/>
            <a:ext cx="2681416" cy="1550774"/>
          </a:xfrm>
          <a:prstGeom prst="noSmoking">
            <a:avLst>
              <a:gd name="adj" fmla="val 293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784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120F-234F-4BAC-D513-6F3D6523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9C16F-BA1D-6EA4-D8B0-30DFE9B29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01960" cy="4351338"/>
          </a:xfrm>
        </p:spPr>
        <p:txBody>
          <a:bodyPr/>
          <a:lstStyle/>
          <a:p>
            <a:r>
              <a:rPr lang="en-US" dirty="0"/>
              <a:t>Adversarial equivalence requires:</a:t>
            </a:r>
          </a:p>
          <a:p>
            <a:pPr lvl="1"/>
            <a:r>
              <a:rPr lang="en-US" dirty="0"/>
              <a:t>attacker interactions </a:t>
            </a:r>
          </a:p>
          <a:p>
            <a:pPr lvl="1"/>
            <a:r>
              <a:rPr lang="en-US" dirty="0"/>
              <a:t>network observations </a:t>
            </a:r>
          </a:p>
          <a:p>
            <a:pPr lvl="1"/>
            <a:r>
              <a:rPr lang="en-US" dirty="0"/>
              <a:t>attacker knowledge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Semantics separately capture protocol and attacker computations</a:t>
            </a:r>
          </a:p>
          <a:p>
            <a:endParaRPr lang="en-US" dirty="0"/>
          </a:p>
          <a:p>
            <a:r>
              <a:rPr lang="en-US" dirty="0"/>
              <a:t>Indistinguishability is not equality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44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576</Words>
  <Application>Microsoft Macintosh PowerPoint</Application>
  <PresentationFormat>Widescreen</PresentationFormat>
  <Paragraphs>162</Paragraphs>
  <Slides>15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Towards Reasoning About Adversarial Protocol Interaction</vt:lpstr>
      <vt:lpstr>Protocols that provide security properties are hard to design correctly</vt:lpstr>
      <vt:lpstr>Protocols undergo expert review, but...</vt:lpstr>
      <vt:lpstr>Roadmap</vt:lpstr>
      <vt:lpstr>Key protocol characteristics to model</vt:lpstr>
      <vt:lpstr>Modeling cryptographic operations (UF + Axioms)</vt:lpstr>
      <vt:lpstr>Key adversary characteristics to model</vt:lpstr>
      <vt:lpstr>Modeling adversaries</vt:lpstr>
      <vt:lpstr>Putting it all together: adversarial reactive protocols</vt:lpstr>
      <vt:lpstr>Roadmap</vt:lpstr>
      <vt:lpstr>Properties we would like to verify</vt:lpstr>
      <vt:lpstr>Aside: indistinguishability (~) is not equality (=)</vt:lpstr>
      <vt:lpstr>Collected properties</vt:lpstr>
      <vt:lpstr>Verification challenges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Kirby Linvill</dc:creator>
  <cp:lastModifiedBy>Kirby Linvill</cp:lastModifiedBy>
  <cp:revision>113</cp:revision>
  <dcterms:created xsi:type="dcterms:W3CDTF">2025-12-04T15:25:40Z</dcterms:created>
  <dcterms:modified xsi:type="dcterms:W3CDTF">2025-12-09T01:06:54Z</dcterms:modified>
</cp:coreProperties>
</file>